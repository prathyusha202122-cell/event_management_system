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5" r:id="rId5"/>
    <p:sldId id="276" r:id="rId6"/>
    <p:sldId id="283" r:id="rId7"/>
    <p:sldId id="282"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8" r:id="rId23"/>
    <p:sldId id="271" r:id="rId24"/>
    <p:sldId id="279" r:id="rId25"/>
    <p:sldId id="272" r:id="rId26"/>
    <p:sldId id="280" r:id="rId27"/>
    <p:sldId id="273" r:id="rId28"/>
    <p:sldId id="281" r:id="rId29"/>
    <p:sldId id="274" r:id="rId30"/>
    <p:sldId id="277"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E0DA"/>
    <a:srgbClr val="6CB2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database to manage technical events, participants, registrations, attendance and certificates. Mention the five modules, then say that the next slides walk through one best query for each SQL concept, in order from basic commands to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independent tables, Events and Participants. Each has a primary key. Both must exist before Registrations, which refers to them through foreign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Registrations is the link table: it holds foreign keys to Events and Participants. Attendance and Certificates each point back to a registration. Run the CREATE statements in this order: Events, Participants, Registrations, Attendance,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technical events with their type, date, venue and registration fee. The event types are Workshop, Conference, Seminar and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participants with name, email, phone and city. The city column is what Question 2 uses to list participants from a particular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registrations. The columns after the registration ID are the event ID and participant ID, then the registration date and status. Two registrations, 304 and 313, are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attendance records. Each one points to a registration ID. Not every registration has an attendance record, for example the cancelled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certificates, ten of type Participation and one Winner, issued to registration 309 at the Web Development Hackathon. With all five tables filled, the queries in the next slides can be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SQL commands retrieve, insert, update and delete data. This query is the simplest one: SELECT picks three columns from the Events table, so the output is a list of all events with their type and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functions work on text. UPPER() is the clearest example: it changes the case of every participant name. Other string functions in the project are LOWER, LEFT, CONCAT and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functions extract and format values from date columns. DAYNAME() turns each event date into the weekday it falls on. Other date functions in the project include DATEDIFF, DATE_FORMAT, MONTH and CURDATE.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 functions turn many rows into one value per group. Here COUNT with GROUP BY gives the number of registrations for each event. The LEFT JOIN keeps events that have no registrations, showing them with a count of zero. The sample output shows four of the eight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Joins link tables through common columns. Registrations holds the foreign keys event_id and participant_id, so it sits in the middle and connects Events to Participants. The output shows event name, participant name and registration date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subquery runs first and passes its result to the outer query. Here the inner SELECT AVG gives the average registration fee, and the outer query keeps only participants whose event fee is higher. With the original sample data the average is 1,175, so AI Summit, Cloud Computing Expo, Data Science Bootcamp and Machine Learning Conference qualify.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view stores a query, not data. Once Participant_Event_Details is created, anyone can run a simple SELECT on it instead of rewriting the four-table join. The LEFT JOIN on Attendance keeps registrations that have no attendance record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groups statements so they succeed or fail together. The fee update happens first, then a savepoint is set. The registration update that follows is rolled back to that savepoint, so only the fee change is committed. Use a transactional engine such as InnoDB.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stored procedure is saved in the database and called by name. This one takes a participant_id as input and returns that participant's registrations with event name, event date, registration date and status. CALL GetParticipantRegistrations(201) runs it for participant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trigger runs automatically after an INSERT, UPDATE or DELETE. This one fires after every update on Attendance and logs a row in Attendance_History only when the status really changed. The &lt;=&gt; operator compares values safely even when one of them is NULL. Remember to create the history table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progression: basic commands, string and date functions, aggregates and joins, subqueries and views, transactions, and finally procedures and triggers that automate the database. Close with the outcome: participant lists, registration reports, attendance summaries and certificate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00758"/>
            <a:ext cx="4318000" cy="419100"/>
          </a:xfrm>
          <a:prstGeom prst="rect">
            <a:avLst/>
          </a:prstGeom>
          <a:noFill/>
        </p:spPr>
        <p:txBody>
          <a:bodyPr wrap="square" lIns="0" tIns="0" rIns="0" bIns="0" rtlCol="0" anchor="t"/>
          <a:lstStyle>
            <a:lvl1pPr marL="0" indent="0" algn="l">
              <a:lnSpc>
                <a:spcPct val="115000"/>
              </a:lnSpc>
              <a:buNone/>
              <a:defRPr lang="en-US" sz="3000" dirty="0">
                <a:solidFill>
                  <a:srgbClr val="14213D"/>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000" dirty="0"/>
          </a:p>
        </p:txBody>
      </p:sp>
      <p:sp>
        <p:nvSpPr>
          <p:cNvPr id="3" name="Text Placeholder 2"/>
          <p:cNvSpPr/>
          <p:nvPr>
            <p:ph type="body" idx="101"/>
          </p:nvPr>
        </p:nvSpPr>
        <p:spPr>
          <a:xfrm>
            <a:off x="812800" y="1724658"/>
            <a:ext cx="10566400" cy="4320542"/>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00758"/>
            <a:ext cx="4318000" cy="419100"/>
          </a:xfrm>
          <a:prstGeom prst="rect">
            <a:avLst/>
          </a:prstGeom>
          <a:noFill/>
        </p:spPr>
        <p:txBody>
          <a:bodyPr wrap="square" lIns="0" tIns="0" rIns="0" bIns="0" rtlCol="0" anchor="t"/>
          <a:lstStyle>
            <a:lvl1pPr marL="0" indent="0" algn="l">
              <a:lnSpc>
                <a:spcPct val="115000"/>
              </a:lnSpc>
              <a:buNone/>
              <a:defRPr lang="en-US" sz="3000" dirty="0">
                <a:solidFill>
                  <a:srgbClr val="14213D"/>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000" dirty="0"/>
          </a:p>
        </p:txBody>
      </p:sp>
      <p:sp>
        <p:nvSpPr>
          <p:cNvPr id="3" name="Text Placeholder 2"/>
          <p:cNvSpPr/>
          <p:nvPr>
            <p:ph type="body" idx="101"/>
          </p:nvPr>
        </p:nvSpPr>
        <p:spPr>
          <a:xfrm>
            <a:off x="812800" y="1724658"/>
            <a:ext cx="10566400" cy="4320542"/>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3CCFC1"/>
                </a:solidFill>
                <a:latin typeface="Arial" panose="020B0604020202020204" pitchFamily="34" charset="0"/>
                <a:ea typeface="Arial" panose="020B0604020202020204" pitchFamily="34" charset="-122"/>
                <a:cs typeface="Arial" panose="020B0604020202020204" pitchFamily="34" charset="-120"/>
              </a:rPr>
              <a:t>SQL PROJECT · MYSQL</a:t>
            </a:r>
            <a:endParaRPr lang="en-US" sz="1400" dirty="0"/>
          </a:p>
        </p:txBody>
      </p:sp>
      <p:sp>
        <p:nvSpPr>
          <p:cNvPr id="3" name="Text 1"/>
          <p:cNvSpPr/>
          <p:nvPr>
            <p:ph type="title"/>
          </p:nvPr>
        </p:nvSpPr>
        <p:spPr>
          <a:xfrm>
            <a:off x="812800" y="1264920"/>
            <a:ext cx="9156700" cy="1412240"/>
          </a:xfrm>
          <a:prstGeom prst="rect">
            <a:avLst/>
          </a:prstGeom>
          <a:noFill/>
        </p:spPr>
        <p:txBody>
          <a:bodyPr wrap="square" lIns="0" tIns="0" rIns="0" bIns="0" rtlCol="0" anchor="t">
            <a:normAutofit/>
          </a:bodyPr>
          <a:lstStyle/>
          <a:p>
            <a:pPr marL="0" indent="0" algn="l">
              <a:lnSpc>
                <a:spcPts val="5460"/>
              </a:lnSpc>
              <a:buNone/>
            </a:pPr>
            <a:r>
              <a:rPr lang="en-US" sz="5200" b="1" i="0" dirty="0">
                <a:solidFill>
                  <a:srgbClr val="F3F5F2"/>
                </a:solidFill>
                <a:latin typeface="Arial" panose="020B0604020202020204" pitchFamily="34" charset="0"/>
                <a:ea typeface="Arial" panose="020B0604020202020204" pitchFamily="34" charset="-122"/>
                <a:cs typeface="Arial" panose="020B0604020202020204" pitchFamily="34" charset="-120"/>
              </a:rPr>
              <a:t>Event Management System Using SQL</a:t>
            </a:r>
            <a:endParaRPr lang="en-US" sz="5200" dirty="0"/>
          </a:p>
        </p:txBody>
      </p:sp>
      <p:sp>
        <p:nvSpPr>
          <p:cNvPr id="4" name="Text 2"/>
          <p:cNvSpPr/>
          <p:nvPr/>
        </p:nvSpPr>
        <p:spPr>
          <a:xfrm>
            <a:off x="812800" y="2854960"/>
            <a:ext cx="8502650" cy="629920"/>
          </a:xfrm>
          <a:prstGeom prst="rect">
            <a:avLst/>
          </a:prstGeom>
          <a:noFill/>
        </p:spPr>
        <p:txBody>
          <a:bodyPr wrap="square" lIns="0" tIns="0" rIns="0" bIns="0" rtlCol="0" anchor="t">
            <a:normAutofit/>
          </a:bodyPr>
          <a:lstStyle/>
          <a:p>
            <a:pPr marL="0" indent="0" algn="l">
              <a:lnSpc>
                <a:spcPts val="2380"/>
              </a:lnSpc>
              <a:buNone/>
            </a:pPr>
            <a:r>
              <a:rPr lang="en-US" sz="1700" dirty="0">
                <a:solidFill>
                  <a:srgbClr val="A9B8CC"/>
                </a:solidFill>
                <a:latin typeface="Arial" panose="020B0604020202020204" pitchFamily="34" charset="0"/>
                <a:ea typeface="Arial" panose="020B0604020202020204" pitchFamily="34" charset="-122"/>
                <a:cs typeface="Arial" panose="020B0604020202020204" pitchFamily="34" charset="-120"/>
              </a:rPr>
              <a:t>Designing and managing a database for technical events, participants, registrations, attendance, and certificates.</a:t>
            </a:r>
            <a:endParaRPr lang="en-US" sz="1700" dirty="0"/>
          </a:p>
        </p:txBody>
      </p:sp>
      <p:sp>
        <p:nvSpPr>
          <p:cNvPr id="8" name="Shape 5"/>
          <p:cNvSpPr/>
          <p:nvPr>
            <p:custDataLst>
              <p:tags r:id="rId1"/>
            </p:custDataLst>
          </p:nvPr>
        </p:nvSpPr>
        <p:spPr>
          <a:xfrm>
            <a:off x="749300" y="4450080"/>
            <a:ext cx="3602990" cy="1157605"/>
          </a:xfrm>
          <a:prstGeom prst="roundRect">
            <a:avLst>
              <a:gd name="adj" fmla="val 10127"/>
            </a:avLst>
          </a:prstGeom>
          <a:solidFill>
            <a:srgbClr val="172A44"/>
          </a:solidFill>
        </p:spPr>
        <p:txBody>
          <a:bodyPr/>
          <a:p>
            <a:pPr marL="0" indent="0" algn="l">
              <a:lnSpc>
                <a:spcPts val="2100"/>
              </a:lnSpc>
              <a:buNone/>
            </a:pPr>
            <a:r>
              <a:rPr lang="en-US" dirty="0">
                <a:solidFill>
                  <a:schemeClr val="bg1"/>
                </a:solidFill>
                <a:sym typeface="+mn-ea"/>
              </a:rPr>
              <a:t>T.Maha Lakshmi</a:t>
            </a:r>
            <a:endParaRPr lang="en-US" dirty="0">
              <a:solidFill>
                <a:schemeClr val="bg1"/>
              </a:solidFill>
            </a:endParaRPr>
          </a:p>
          <a:p>
            <a:pPr marL="0" indent="0" algn="l">
              <a:lnSpc>
                <a:spcPts val="2100"/>
              </a:lnSpc>
              <a:buNone/>
            </a:pPr>
            <a:r>
              <a:rPr lang="en-US" dirty="0">
                <a:solidFill>
                  <a:schemeClr val="bg1"/>
                </a:solidFill>
                <a:sym typeface="+mn-ea"/>
              </a:rPr>
              <a:t>A.Venkata Lakshmi Prathyusha</a:t>
            </a:r>
            <a:endParaRPr lang="en-US" dirty="0">
              <a:solidFill>
                <a:schemeClr val="bg1"/>
              </a:solidFill>
              <a:sym typeface="+mn-ea"/>
            </a:endParaRPr>
          </a:p>
          <a:p>
            <a:pPr marL="0" indent="0" algn="l">
              <a:lnSpc>
                <a:spcPts val="2100"/>
              </a:lnSpc>
              <a:buNone/>
            </a:pPr>
            <a:r>
              <a:rPr lang="en-US" altLang="en-US" dirty="0">
                <a:solidFill>
                  <a:schemeClr val="bg1"/>
                </a:solidFill>
                <a:sym typeface="+mn-ea"/>
              </a:rPr>
              <a:t>B.Narmada</a:t>
            </a:r>
            <a:endParaRPr lang="en-US" altLang="en-US" dirty="0">
              <a:solidFill>
                <a:schemeClr val="bg1"/>
              </a:solidFill>
              <a:sym typeface="+mn-ea"/>
            </a:endParaRPr>
          </a:p>
        </p:txBody>
      </p:sp>
      <p:sp>
        <p:nvSpPr>
          <p:cNvPr id="20" name="Text 13"/>
          <p:cNvSpPr/>
          <p:nvPr/>
        </p:nvSpPr>
        <p:spPr>
          <a:xfrm>
            <a:off x="812800" y="6191885"/>
            <a:ext cx="10883392"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A9B8CC"/>
                </a:solidFill>
                <a:latin typeface="Arial" panose="020B0604020202020204" pitchFamily="34" charset="0"/>
                <a:ea typeface="Arial" panose="020B0604020202020204" pitchFamily="34" charset="-122"/>
                <a:cs typeface="Arial" panose="020B0604020202020204" pitchFamily="34" charset="-120"/>
              </a:rPr>
              <a:t>Tools used: MySQL · SQL queries · Database tables · Relationships</a:t>
            </a:r>
            <a:endParaRPr lang="en-US" sz="1300" dirty="0"/>
          </a:p>
        </p:txBody>
      </p:sp>
      <p:sp>
        <p:nvSpPr>
          <p:cNvPr id="24" name="Text Box 23"/>
          <p:cNvSpPr txBox="1"/>
          <p:nvPr/>
        </p:nvSpPr>
        <p:spPr>
          <a:xfrm>
            <a:off x="749300" y="3649980"/>
            <a:ext cx="4064000" cy="368300"/>
          </a:xfrm>
          <a:prstGeom prst="rect">
            <a:avLst/>
          </a:prstGeom>
          <a:noFill/>
        </p:spPr>
        <p:txBody>
          <a:bodyPr wrap="square" rtlCol="0">
            <a:spAutoFit/>
          </a:bodyPr>
          <a:p>
            <a:r>
              <a:rPr lang="en-US" altLang="en-GB">
                <a:solidFill>
                  <a:schemeClr val="bg1"/>
                </a:solidFill>
              </a:rPr>
              <a:t>Presented by</a:t>
            </a:r>
            <a:endParaRPr lang="en-US" altLang="en-GB">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558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F766E"/>
                </a:solidFill>
                <a:latin typeface="Arial" panose="020B0604020202020204" pitchFamily="34" charset="0"/>
                <a:ea typeface="Arial" panose="020B0604020202020204" pitchFamily="34" charset="-122"/>
                <a:cs typeface="Arial" panose="020B0604020202020204" pitchFamily="34" charset="-120"/>
              </a:rPr>
              <a:t>PROBLEM STATEMENT</a:t>
            </a:r>
            <a:endParaRPr lang="en-US" sz="1200" dirty="0"/>
          </a:p>
        </p:txBody>
      </p:sp>
      <p:sp>
        <p:nvSpPr>
          <p:cNvPr id="3" name="Text 1"/>
          <p:cNvSpPr/>
          <p:nvPr>
            <p:ph type="title"/>
          </p:nvPr>
        </p:nvSpPr>
        <p:spPr>
          <a:xfrm>
            <a:off x="812800" y="822960"/>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Why events need a database</a:t>
            </a:r>
            <a:endParaRPr lang="en-US" sz="3000" dirty="0"/>
          </a:p>
        </p:txBody>
      </p:sp>
      <p:sp>
        <p:nvSpPr>
          <p:cNvPr id="4" name="Shape 2"/>
          <p:cNvSpPr/>
          <p:nvPr/>
        </p:nvSpPr>
        <p:spPr>
          <a:xfrm>
            <a:off x="815975" y="1448435"/>
            <a:ext cx="5200650" cy="1690370"/>
          </a:xfrm>
          <a:prstGeom prst="roundRect">
            <a:avLst>
              <a:gd name="adj" fmla="val 5823"/>
            </a:avLst>
          </a:prstGeom>
          <a:solidFill>
            <a:srgbClr val="FFFDF8"/>
          </a:solidFill>
          <a:ln w="6350">
            <a:solidFill>
              <a:srgbClr val="DDD8C8"/>
            </a:solidFill>
            <a:prstDash val="solid"/>
          </a:ln>
        </p:spPr>
      </p:sp>
      <p:pic>
        <p:nvPicPr>
          <p:cNvPr id="5" name="Image 0" descr="Chart"/>
          <p:cNvPicPr>
            <a:picLocks noChangeAspect="1"/>
          </p:cNvPicPr>
          <p:nvPr/>
        </p:nvPicPr>
        <p:blipFill>
          <a:blip r:embed="rId1"/>
          <a:srcRect/>
          <a:stretch>
            <a:fillRect/>
          </a:stretch>
        </p:blipFill>
        <p:spPr>
          <a:xfrm>
            <a:off x="1046480" y="1678940"/>
            <a:ext cx="304800" cy="304800"/>
          </a:xfrm>
          <a:prstGeom prst="rect">
            <a:avLst/>
          </a:prstGeom>
        </p:spPr>
      </p:pic>
      <p:sp>
        <p:nvSpPr>
          <p:cNvPr id="6" name="Text 3"/>
          <p:cNvSpPr/>
          <p:nvPr/>
        </p:nvSpPr>
        <p:spPr>
          <a:xfrm>
            <a:off x="1046480" y="2059940"/>
            <a:ext cx="4881829"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Arial" panose="020B0604020202020204" pitchFamily="34" charset="0"/>
                <a:ea typeface="Arial" panose="020B0604020202020204" pitchFamily="34" charset="-122"/>
                <a:cs typeface="Arial" panose="020B0604020202020204" pitchFamily="34" charset="-120"/>
              </a:rPr>
              <a:t>Scattered records</a:t>
            </a:r>
            <a:endParaRPr lang="en-US" sz="1800" dirty="0"/>
          </a:p>
        </p:txBody>
      </p:sp>
      <p:sp>
        <p:nvSpPr>
          <p:cNvPr id="7" name="Text 4"/>
          <p:cNvSpPr/>
          <p:nvPr/>
        </p:nvSpPr>
        <p:spPr>
          <a:xfrm>
            <a:off x="1046480" y="2410460"/>
            <a:ext cx="4881829"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D4A63"/>
                </a:solidFill>
                <a:latin typeface="Arial" panose="020B0604020202020204" pitchFamily="34" charset="0"/>
                <a:ea typeface="Arial" panose="020B0604020202020204" pitchFamily="34" charset="-122"/>
                <a:cs typeface="Arial" panose="020B0604020202020204" pitchFamily="34" charset="-120"/>
              </a:rPr>
              <a:t>Events, participants, registrations, attendance and certificates all need to be tracked together.</a:t>
            </a:r>
            <a:endParaRPr lang="en-US" sz="1400" dirty="0"/>
          </a:p>
        </p:txBody>
      </p:sp>
      <p:sp>
        <p:nvSpPr>
          <p:cNvPr id="8" name="Shape 5"/>
          <p:cNvSpPr/>
          <p:nvPr/>
        </p:nvSpPr>
        <p:spPr>
          <a:xfrm>
            <a:off x="6175375" y="1448435"/>
            <a:ext cx="5200650" cy="1690370"/>
          </a:xfrm>
          <a:prstGeom prst="roundRect">
            <a:avLst>
              <a:gd name="adj" fmla="val 5823"/>
            </a:avLst>
          </a:prstGeom>
          <a:solidFill>
            <a:srgbClr val="FFFDF8"/>
          </a:solidFill>
          <a:ln w="6350">
            <a:solidFill>
              <a:srgbClr val="DDD8C8"/>
            </a:solidFill>
            <a:prstDash val="solid"/>
          </a:ln>
        </p:spPr>
      </p:sp>
      <p:pic>
        <p:nvPicPr>
          <p:cNvPr id="9" name="Image 1" descr="Warning"/>
          <p:cNvPicPr>
            <a:picLocks noChangeAspect="1"/>
          </p:cNvPicPr>
          <p:nvPr/>
        </p:nvPicPr>
        <p:blipFill>
          <a:blip r:embed="rId2"/>
          <a:srcRect/>
          <a:stretch>
            <a:fillRect/>
          </a:stretch>
        </p:blipFill>
        <p:spPr>
          <a:xfrm>
            <a:off x="6405880" y="1678940"/>
            <a:ext cx="304800" cy="304800"/>
          </a:xfrm>
          <a:prstGeom prst="rect">
            <a:avLst/>
          </a:prstGeom>
        </p:spPr>
      </p:pic>
      <p:sp>
        <p:nvSpPr>
          <p:cNvPr id="10" name="Text 6"/>
          <p:cNvSpPr/>
          <p:nvPr/>
        </p:nvSpPr>
        <p:spPr>
          <a:xfrm>
            <a:off x="6405880" y="2059940"/>
            <a:ext cx="4881829"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Arial" panose="020B0604020202020204" pitchFamily="34" charset="0"/>
                <a:ea typeface="Arial" panose="020B0604020202020204" pitchFamily="34" charset="-122"/>
                <a:cs typeface="Arial" panose="020B0604020202020204" pitchFamily="34" charset="-120"/>
              </a:rPr>
              <a:t>Manual errors</a:t>
            </a:r>
            <a:endParaRPr lang="en-US" sz="1800" dirty="0"/>
          </a:p>
        </p:txBody>
      </p:sp>
      <p:sp>
        <p:nvSpPr>
          <p:cNvPr id="11" name="Text 7"/>
          <p:cNvSpPr/>
          <p:nvPr/>
        </p:nvSpPr>
        <p:spPr>
          <a:xfrm>
            <a:off x="6405880" y="2410460"/>
            <a:ext cx="4881829"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D4A63"/>
                </a:solidFill>
                <a:latin typeface="Arial" panose="020B0604020202020204" pitchFamily="34" charset="0"/>
                <a:ea typeface="Arial" panose="020B0604020202020204" pitchFamily="34" charset="-122"/>
                <a:cs typeface="Arial" panose="020B0604020202020204" pitchFamily="34" charset="-120"/>
              </a:rPr>
              <a:t>Manual record-keeping leads to duplicate entries, inconsistent data and weak attendance tracking.</a:t>
            </a:r>
            <a:endParaRPr lang="en-US" sz="1400" dirty="0"/>
          </a:p>
        </p:txBody>
      </p:sp>
      <p:sp>
        <p:nvSpPr>
          <p:cNvPr id="12" name="Shape 8"/>
          <p:cNvSpPr/>
          <p:nvPr/>
        </p:nvSpPr>
        <p:spPr>
          <a:xfrm>
            <a:off x="815975" y="3297555"/>
            <a:ext cx="5200650" cy="1690370"/>
          </a:xfrm>
          <a:prstGeom prst="roundRect">
            <a:avLst>
              <a:gd name="adj" fmla="val 5823"/>
            </a:avLst>
          </a:prstGeom>
          <a:solidFill>
            <a:srgbClr val="FFFDF8"/>
          </a:solidFill>
          <a:ln w="6350">
            <a:solidFill>
              <a:srgbClr val="DDD8C8"/>
            </a:solidFill>
            <a:prstDash val="solid"/>
          </a:ln>
        </p:spPr>
      </p:sp>
      <p:pic>
        <p:nvPicPr>
          <p:cNvPr id="13" name="Image 2" descr="Database"/>
          <p:cNvPicPr>
            <a:picLocks noChangeAspect="1"/>
          </p:cNvPicPr>
          <p:nvPr/>
        </p:nvPicPr>
        <p:blipFill>
          <a:blip r:embed="rId3"/>
          <a:srcRect/>
          <a:stretch>
            <a:fillRect/>
          </a:stretch>
        </p:blipFill>
        <p:spPr>
          <a:xfrm>
            <a:off x="1046480" y="3528060"/>
            <a:ext cx="304800" cy="304800"/>
          </a:xfrm>
          <a:prstGeom prst="rect">
            <a:avLst/>
          </a:prstGeom>
        </p:spPr>
      </p:pic>
      <p:sp>
        <p:nvSpPr>
          <p:cNvPr id="14" name="Text 9"/>
          <p:cNvSpPr/>
          <p:nvPr/>
        </p:nvSpPr>
        <p:spPr>
          <a:xfrm>
            <a:off x="1046480" y="3909060"/>
            <a:ext cx="4881829"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Arial" panose="020B0604020202020204" pitchFamily="34" charset="0"/>
                <a:ea typeface="Arial" panose="020B0604020202020204" pitchFamily="34" charset="-122"/>
                <a:cs typeface="Arial" panose="020B0604020202020204" pitchFamily="34" charset="-120"/>
              </a:rPr>
              <a:t>Relational solution</a:t>
            </a:r>
            <a:endParaRPr lang="en-US" sz="1800" dirty="0"/>
          </a:p>
        </p:txBody>
      </p:sp>
      <p:sp>
        <p:nvSpPr>
          <p:cNvPr id="15" name="Text 10"/>
          <p:cNvSpPr/>
          <p:nvPr/>
        </p:nvSpPr>
        <p:spPr>
          <a:xfrm>
            <a:off x="1046480" y="4259580"/>
            <a:ext cx="4881829"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D4A63"/>
                </a:solidFill>
                <a:latin typeface="Arial" panose="020B0604020202020204" pitchFamily="34" charset="0"/>
                <a:ea typeface="Arial" panose="020B0604020202020204" pitchFamily="34" charset="-122"/>
                <a:cs typeface="Arial" panose="020B0604020202020204" pitchFamily="34" charset="-120"/>
              </a:rPr>
              <a:t>A MySQL relational database stores and organizes all event information efficiently.</a:t>
            </a:r>
            <a:endParaRPr lang="en-US" sz="1400" dirty="0"/>
          </a:p>
        </p:txBody>
      </p:sp>
      <p:sp>
        <p:nvSpPr>
          <p:cNvPr id="16" name="Shape 11"/>
          <p:cNvSpPr/>
          <p:nvPr/>
        </p:nvSpPr>
        <p:spPr>
          <a:xfrm>
            <a:off x="6175375" y="3297555"/>
            <a:ext cx="5200650" cy="1690370"/>
          </a:xfrm>
          <a:prstGeom prst="roundRect">
            <a:avLst>
              <a:gd name="adj" fmla="val 5823"/>
            </a:avLst>
          </a:prstGeom>
          <a:solidFill>
            <a:srgbClr val="FFFDF8"/>
          </a:solidFill>
          <a:ln w="6350">
            <a:solidFill>
              <a:srgbClr val="DDD8C8"/>
            </a:solidFill>
            <a:prstDash val="solid"/>
          </a:ln>
        </p:spPr>
      </p:sp>
      <p:pic>
        <p:nvPicPr>
          <p:cNvPr id="17" name="Image 3" descr="Search"/>
          <p:cNvPicPr>
            <a:picLocks noChangeAspect="1"/>
          </p:cNvPicPr>
          <p:nvPr/>
        </p:nvPicPr>
        <p:blipFill>
          <a:blip r:embed="rId4"/>
          <a:srcRect/>
          <a:stretch>
            <a:fillRect/>
          </a:stretch>
        </p:blipFill>
        <p:spPr>
          <a:xfrm>
            <a:off x="6405880" y="3528060"/>
            <a:ext cx="304800" cy="304800"/>
          </a:xfrm>
          <a:prstGeom prst="rect">
            <a:avLst/>
          </a:prstGeom>
        </p:spPr>
      </p:pic>
      <p:sp>
        <p:nvSpPr>
          <p:cNvPr id="18" name="Text 12"/>
          <p:cNvSpPr/>
          <p:nvPr/>
        </p:nvSpPr>
        <p:spPr>
          <a:xfrm>
            <a:off x="6405880" y="3909060"/>
            <a:ext cx="4881829" cy="299720"/>
          </a:xfrm>
          <a:prstGeom prst="rect">
            <a:avLst/>
          </a:prstGeom>
          <a:noFill/>
        </p:spPr>
        <p:txBody>
          <a:bodyPr wrap="square" lIns="0" tIns="0" rIns="0" bIns="0" rtlCol="0" anchor="t">
            <a:normAutofit/>
          </a:bodyPr>
          <a:lstStyle/>
          <a:p>
            <a:pPr marL="0" indent="0" algn="l">
              <a:lnSpc>
                <a:spcPts val="2160"/>
              </a:lnSpc>
              <a:buNone/>
            </a:pPr>
            <a:r>
              <a:rPr lang="en-US" sz="1800" b="1" dirty="0">
                <a:solidFill>
                  <a:srgbClr val="14213D"/>
                </a:solidFill>
                <a:latin typeface="Arial" panose="020B0604020202020204" pitchFamily="34" charset="0"/>
                <a:ea typeface="Arial" panose="020B0604020202020204" pitchFamily="34" charset="-122"/>
                <a:cs typeface="Arial" panose="020B0604020202020204" pitchFamily="34" charset="-120"/>
              </a:rPr>
              <a:t>Reports on demand</a:t>
            </a:r>
            <a:endParaRPr lang="en-US" sz="1800" dirty="0"/>
          </a:p>
        </p:txBody>
      </p:sp>
      <p:sp>
        <p:nvSpPr>
          <p:cNvPr id="19" name="Text 13"/>
          <p:cNvSpPr/>
          <p:nvPr/>
        </p:nvSpPr>
        <p:spPr>
          <a:xfrm>
            <a:off x="6405880" y="4259580"/>
            <a:ext cx="4881829"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D4A63"/>
                </a:solidFill>
                <a:latin typeface="Arial" panose="020B0604020202020204" pitchFamily="34" charset="0"/>
                <a:ea typeface="Arial" panose="020B0604020202020204" pitchFamily="34" charset="-122"/>
                <a:cs typeface="Arial" panose="020B0604020202020204" pitchFamily="34" charset="-120"/>
              </a:rPr>
              <a:t>SQL queries give organizers participant lists, attendance reports and certificate records.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558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F766E"/>
                </a:solidFill>
                <a:latin typeface="Arial" panose="020B0604020202020204" pitchFamily="34" charset="0"/>
                <a:ea typeface="Arial" panose="020B0604020202020204" pitchFamily="34" charset="-122"/>
                <a:cs typeface="Arial" panose="020B0604020202020204" pitchFamily="34" charset="-120"/>
              </a:rPr>
              <a:t>OBJECTIVES</a:t>
            </a:r>
            <a:endParaRPr lang="en-US" sz="1200" dirty="0"/>
          </a:p>
        </p:txBody>
      </p:sp>
      <p:sp>
        <p:nvSpPr>
          <p:cNvPr id="3" name="Text 1"/>
          <p:cNvSpPr/>
          <p:nvPr>
            <p:ph type="title"/>
          </p:nvPr>
        </p:nvSpPr>
        <p:spPr>
          <a:xfrm>
            <a:off x="812800" y="822961"/>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What the project sets out to do</a:t>
            </a:r>
            <a:endParaRPr lang="en-US" sz="3000" dirty="0"/>
          </a:p>
        </p:txBody>
      </p:sp>
      <p:sp>
        <p:nvSpPr>
          <p:cNvPr id="4" name="Shape 2"/>
          <p:cNvSpPr/>
          <p:nvPr/>
        </p:nvSpPr>
        <p:spPr>
          <a:xfrm>
            <a:off x="812800" y="1929766"/>
            <a:ext cx="10566400" cy="0"/>
          </a:xfrm>
          <a:prstGeom prst="line">
            <a:avLst/>
          </a:prstGeom>
          <a:noFill/>
          <a:ln w="6350">
            <a:solidFill>
              <a:srgbClr val="DDD8C8"/>
            </a:solidFill>
            <a:prstDash val="solid"/>
          </a:ln>
        </p:spPr>
      </p:sp>
      <p:sp>
        <p:nvSpPr>
          <p:cNvPr id="5" name="Text 3"/>
          <p:cNvSpPr/>
          <p:nvPr/>
        </p:nvSpPr>
        <p:spPr>
          <a:xfrm>
            <a:off x="812800" y="150876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1</a:t>
            </a:r>
            <a:endParaRPr lang="en-US" sz="1300" dirty="0"/>
          </a:p>
        </p:txBody>
      </p:sp>
      <p:sp>
        <p:nvSpPr>
          <p:cNvPr id="6" name="Text 4"/>
          <p:cNvSpPr/>
          <p:nvPr/>
        </p:nvSpPr>
        <p:spPr>
          <a:xfrm>
            <a:off x="1320800" y="1540511"/>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Create a centralized database for managing technical events.</a:t>
            </a:r>
            <a:endParaRPr lang="en-US" sz="1500" dirty="0"/>
          </a:p>
        </p:txBody>
      </p:sp>
      <p:sp>
        <p:nvSpPr>
          <p:cNvPr id="7" name="Shape 5"/>
          <p:cNvSpPr/>
          <p:nvPr/>
        </p:nvSpPr>
        <p:spPr>
          <a:xfrm>
            <a:off x="812800" y="2442846"/>
            <a:ext cx="10566400" cy="0"/>
          </a:xfrm>
          <a:prstGeom prst="line">
            <a:avLst/>
          </a:prstGeom>
          <a:noFill/>
          <a:ln w="6350">
            <a:solidFill>
              <a:srgbClr val="DDD8C8"/>
            </a:solidFill>
            <a:prstDash val="solid"/>
          </a:ln>
        </p:spPr>
      </p:sp>
      <p:sp>
        <p:nvSpPr>
          <p:cNvPr id="8" name="Text 6"/>
          <p:cNvSpPr/>
          <p:nvPr/>
        </p:nvSpPr>
        <p:spPr>
          <a:xfrm>
            <a:off x="812800" y="202184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2</a:t>
            </a:r>
            <a:endParaRPr lang="en-US" sz="1300" dirty="0"/>
          </a:p>
        </p:txBody>
      </p:sp>
      <p:sp>
        <p:nvSpPr>
          <p:cNvPr id="9" name="Text 7"/>
          <p:cNvSpPr/>
          <p:nvPr/>
        </p:nvSpPr>
        <p:spPr>
          <a:xfrm>
            <a:off x="1320800" y="2053591"/>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Maintain participant names, email addresses, phone numbers and cities.</a:t>
            </a:r>
            <a:endParaRPr lang="en-US" sz="1500" dirty="0"/>
          </a:p>
        </p:txBody>
      </p:sp>
      <p:sp>
        <p:nvSpPr>
          <p:cNvPr id="10" name="Shape 8"/>
          <p:cNvSpPr/>
          <p:nvPr/>
        </p:nvSpPr>
        <p:spPr>
          <a:xfrm>
            <a:off x="812800" y="2955925"/>
            <a:ext cx="10566400" cy="0"/>
          </a:xfrm>
          <a:prstGeom prst="line">
            <a:avLst/>
          </a:prstGeom>
          <a:noFill/>
          <a:ln w="6350">
            <a:solidFill>
              <a:srgbClr val="DDD8C8"/>
            </a:solidFill>
            <a:prstDash val="solid"/>
          </a:ln>
        </p:spPr>
      </p:sp>
      <p:sp>
        <p:nvSpPr>
          <p:cNvPr id="11" name="Text 9"/>
          <p:cNvSpPr/>
          <p:nvPr/>
        </p:nvSpPr>
        <p:spPr>
          <a:xfrm>
            <a:off x="812800" y="2534920"/>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3</a:t>
            </a:r>
            <a:endParaRPr lang="en-US" sz="1300" dirty="0"/>
          </a:p>
        </p:txBody>
      </p:sp>
      <p:sp>
        <p:nvSpPr>
          <p:cNvPr id="12" name="Text 10"/>
          <p:cNvSpPr/>
          <p:nvPr/>
        </p:nvSpPr>
        <p:spPr>
          <a:xfrm>
            <a:off x="1320800" y="2566670"/>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Manage event registrations and registration statuses.</a:t>
            </a:r>
            <a:endParaRPr lang="en-US" sz="1500" dirty="0"/>
          </a:p>
        </p:txBody>
      </p:sp>
      <p:sp>
        <p:nvSpPr>
          <p:cNvPr id="13" name="Shape 11"/>
          <p:cNvSpPr/>
          <p:nvPr/>
        </p:nvSpPr>
        <p:spPr>
          <a:xfrm>
            <a:off x="812800" y="3469005"/>
            <a:ext cx="10566400" cy="0"/>
          </a:xfrm>
          <a:prstGeom prst="line">
            <a:avLst/>
          </a:prstGeom>
          <a:noFill/>
          <a:ln w="6350">
            <a:solidFill>
              <a:srgbClr val="DDD8C8"/>
            </a:solidFill>
            <a:prstDash val="solid"/>
          </a:ln>
        </p:spPr>
      </p:sp>
      <p:sp>
        <p:nvSpPr>
          <p:cNvPr id="14" name="Text 12"/>
          <p:cNvSpPr/>
          <p:nvPr/>
        </p:nvSpPr>
        <p:spPr>
          <a:xfrm>
            <a:off x="812800" y="3048000"/>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4</a:t>
            </a:r>
            <a:endParaRPr lang="en-US" sz="1300" dirty="0"/>
          </a:p>
        </p:txBody>
      </p:sp>
      <p:sp>
        <p:nvSpPr>
          <p:cNvPr id="15" name="Text 13"/>
          <p:cNvSpPr/>
          <p:nvPr/>
        </p:nvSpPr>
        <p:spPr>
          <a:xfrm>
            <a:off x="1320800" y="3079750"/>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Record participant attendance for different events.</a:t>
            </a:r>
            <a:endParaRPr lang="en-US" sz="1500" dirty="0"/>
          </a:p>
        </p:txBody>
      </p:sp>
      <p:sp>
        <p:nvSpPr>
          <p:cNvPr id="16" name="Shape 14"/>
          <p:cNvSpPr/>
          <p:nvPr/>
        </p:nvSpPr>
        <p:spPr>
          <a:xfrm>
            <a:off x="812800" y="3982085"/>
            <a:ext cx="10566400" cy="0"/>
          </a:xfrm>
          <a:prstGeom prst="line">
            <a:avLst/>
          </a:prstGeom>
          <a:noFill/>
          <a:ln w="6350">
            <a:solidFill>
              <a:srgbClr val="DDD8C8"/>
            </a:solidFill>
            <a:prstDash val="solid"/>
          </a:ln>
        </p:spPr>
      </p:sp>
      <p:sp>
        <p:nvSpPr>
          <p:cNvPr id="17" name="Text 15"/>
          <p:cNvSpPr/>
          <p:nvPr/>
        </p:nvSpPr>
        <p:spPr>
          <a:xfrm>
            <a:off x="812800" y="3561080"/>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5</a:t>
            </a:r>
            <a:endParaRPr lang="en-US" sz="1300" dirty="0"/>
          </a:p>
        </p:txBody>
      </p:sp>
      <p:sp>
        <p:nvSpPr>
          <p:cNvPr id="18" name="Text 16"/>
          <p:cNvSpPr/>
          <p:nvPr/>
        </p:nvSpPr>
        <p:spPr>
          <a:xfrm>
            <a:off x="1320800" y="3592830"/>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Maintain certificate issuance details.</a:t>
            </a:r>
            <a:endParaRPr lang="en-US" sz="1500" dirty="0"/>
          </a:p>
        </p:txBody>
      </p:sp>
      <p:sp>
        <p:nvSpPr>
          <p:cNvPr id="19" name="Shape 17"/>
          <p:cNvSpPr/>
          <p:nvPr/>
        </p:nvSpPr>
        <p:spPr>
          <a:xfrm>
            <a:off x="812800" y="4495166"/>
            <a:ext cx="10566400" cy="0"/>
          </a:xfrm>
          <a:prstGeom prst="line">
            <a:avLst/>
          </a:prstGeom>
          <a:noFill/>
          <a:ln w="6350">
            <a:solidFill>
              <a:srgbClr val="DDD8C8"/>
            </a:solidFill>
            <a:prstDash val="solid"/>
          </a:ln>
        </p:spPr>
      </p:sp>
      <p:sp>
        <p:nvSpPr>
          <p:cNvPr id="20" name="Text 18"/>
          <p:cNvSpPr/>
          <p:nvPr/>
        </p:nvSpPr>
        <p:spPr>
          <a:xfrm>
            <a:off x="812800" y="407416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6</a:t>
            </a:r>
            <a:endParaRPr lang="en-US" sz="1300" dirty="0"/>
          </a:p>
        </p:txBody>
      </p:sp>
      <p:sp>
        <p:nvSpPr>
          <p:cNvPr id="21" name="Text 19"/>
          <p:cNvSpPr/>
          <p:nvPr/>
        </p:nvSpPr>
        <p:spPr>
          <a:xfrm>
            <a:off x="1320800" y="4105911"/>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Generate participant lists and attendance reports using SQL queries.</a:t>
            </a:r>
            <a:endParaRPr lang="en-US" sz="1500" dirty="0"/>
          </a:p>
        </p:txBody>
      </p:sp>
      <p:sp>
        <p:nvSpPr>
          <p:cNvPr id="22" name="Text 20"/>
          <p:cNvSpPr/>
          <p:nvPr/>
        </p:nvSpPr>
        <p:spPr>
          <a:xfrm>
            <a:off x="812800" y="458724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F766E"/>
          </a:solidFill>
        </p:spPr>
        <p:txBody>
          <a:bodyPr wrap="square" lIns="0" tIns="0" rIns="0" bIns="0" rtlCol="0" anchor="t">
            <a:normAutofit/>
          </a:bodyPr>
          <a:lstStyle/>
          <a:p>
            <a:pPr marL="0" indent="0" algn="ctr">
              <a:lnSpc>
                <a:spcPts val="2600"/>
              </a:lnSpc>
              <a:buNone/>
            </a:pPr>
            <a:r>
              <a:rPr lang="en-US" sz="1300" b="1" dirty="0">
                <a:solidFill>
                  <a:srgbClr val="F7F5EF"/>
                </a:solidFill>
                <a:latin typeface="Arial" panose="020B0604020202020204" pitchFamily="34" charset="0"/>
                <a:ea typeface="Arial" panose="020B0604020202020204" pitchFamily="34" charset="-122"/>
                <a:cs typeface="Arial" panose="020B0604020202020204" pitchFamily="34" charset="-120"/>
              </a:rPr>
              <a:t>7</a:t>
            </a:r>
            <a:endParaRPr lang="en-US" sz="1300" dirty="0"/>
          </a:p>
        </p:txBody>
      </p:sp>
      <p:sp>
        <p:nvSpPr>
          <p:cNvPr id="23" name="Text 21"/>
          <p:cNvSpPr/>
          <p:nvPr/>
        </p:nvSpPr>
        <p:spPr>
          <a:xfrm>
            <a:off x="1320800" y="4618991"/>
            <a:ext cx="10360152" cy="292100"/>
          </a:xfrm>
          <a:prstGeom prst="rect">
            <a:avLst/>
          </a:prstGeom>
          <a:noFill/>
        </p:spPr>
        <p:txBody>
          <a:bodyPr wrap="square" lIns="0" tIns="0" rIns="0" bIns="0" rtlCol="0" anchor="t">
            <a:normAutofit/>
          </a:bodyPr>
          <a:lstStyle/>
          <a:p>
            <a:pPr marL="0" indent="0" algn="l">
              <a:lnSpc>
                <a:spcPts val="2100"/>
              </a:lnSpc>
              <a:buNone/>
            </a:pPr>
            <a:r>
              <a:rPr lang="en-US" sz="1500" dirty="0">
                <a:solidFill>
                  <a:srgbClr val="14213D"/>
                </a:solidFill>
                <a:latin typeface="Arial" panose="020B0604020202020204" pitchFamily="34" charset="0"/>
                <a:ea typeface="Arial" panose="020B0604020202020204" pitchFamily="34" charset="-122"/>
                <a:cs typeface="Arial" panose="020B0604020202020204" pitchFamily="34" charset="-120"/>
              </a:rPr>
              <a:t>Link the tables with primary keys and foreign keys.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r>
              <a:rPr b="1">
                <a:ln/>
                <a:solidFill>
                  <a:schemeClr val="accent1"/>
                </a:solidFill>
                <a:effectLst>
                  <a:outerShdw blurRad="38100" dist="25400" dir="5400000" algn="ctr" rotWithShape="0">
                    <a:srgbClr val="6E747A">
                      <a:alpha val="43000"/>
                    </a:srgbClr>
                  </a:outerShdw>
                </a:effectLst>
                <a:ea typeface="Cambria" panose="02040503050406030204" pitchFamily="34" charset="-122"/>
                <a:cs typeface="Arial" panose="020B0604020202020204" pitchFamily="34" charset="0"/>
                <a:sym typeface="+mn-ea"/>
              </a:rPr>
              <a:t>Database Design</a:t>
            </a:r>
            <a:endParaRPr lang="en-GB" altLang="en-US" b="1">
              <a:ln/>
              <a:solidFill>
                <a:schemeClr val="accent1"/>
              </a:solidFill>
              <a:effectLst>
                <a:outerShdw blurRad="38100" dist="25400" dir="5400000" algn="ctr" rotWithShape="0">
                  <a:srgbClr val="6E747A">
                    <a:alpha val="43000"/>
                  </a:srgbClr>
                </a:outerShdw>
              </a:effectLst>
              <a:ea typeface="Cambria" panose="02040503050406030204" pitchFamily="34" charset="-122"/>
              <a:cs typeface="Arial" panose="020B0604020202020204" pitchFamily="34" charset="0"/>
              <a:sym typeface="+mn-ea"/>
            </a:endParaRPr>
          </a:p>
        </p:txBody>
      </p:sp>
      <p:graphicFrame>
        <p:nvGraphicFramePr>
          <p:cNvPr id="4" name="Table 3"/>
          <p:cNvGraphicFramePr/>
          <p:nvPr>
            <p:custDataLst>
              <p:tags r:id="rId1"/>
            </p:custDataLst>
          </p:nvPr>
        </p:nvGraphicFramePr>
        <p:xfrm>
          <a:off x="812800" y="1854835"/>
          <a:ext cx="10417810" cy="3147695"/>
        </p:xfrm>
        <a:graphic>
          <a:graphicData uri="http://schemas.openxmlformats.org/drawingml/2006/table">
            <a:tbl>
              <a:tblPr/>
              <a:tblGrid>
                <a:gridCol w="1932305"/>
                <a:gridCol w="8485505"/>
              </a:tblGrid>
              <a:tr h="420370">
                <a:tc>
                  <a:txBody>
                    <a:bodyPr/>
                    <a:p>
                      <a:r>
                        <a:rPr lang="en-US" altLang="zh-CN" sz="1600"/>
                        <a:t>Table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c>
                  <a:txBody>
                    <a:bodyPr/>
                    <a:p>
                      <a:pPr algn="l"/>
                      <a:r>
                        <a:rPr lang="en-US" altLang="zh-CN" sz="1600"/>
                        <a:t>Columns (PK / FK / constraints)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r>
              <a:tr h="522605">
                <a:tc>
                  <a:txBody>
                    <a:bodyPr/>
                    <a:p>
                      <a:r>
                        <a:rPr lang="en-US" altLang="zh-CN" sz="1600"/>
                        <a:t>Events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event_id PK, event_name, event_type, event_date, venue, registration_fee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420370">
                <a:tc>
                  <a:txBody>
                    <a:bodyPr/>
                    <a:p>
                      <a:r>
                        <a:rPr lang="en-US" altLang="zh-CN" sz="1600"/>
                        <a:t>Participants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participant_id PK, participant_name, email, phone, city</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841375">
                <a:tc>
                  <a:txBody>
                    <a:bodyPr/>
                    <a:p>
                      <a:r>
                        <a:rPr lang="en-US" altLang="zh-CN" sz="1600"/>
                        <a:t>Registrations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registration_id PK, event_id FK, participant_id FK, registration_date, registration_status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522605">
                <a:tc>
                  <a:txBody>
                    <a:bodyPr/>
                    <a:p>
                      <a:r>
                        <a:rPr lang="en-US" altLang="zh-CN" sz="1600"/>
                        <a:t>Attendance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attendance_id PK, registration_id FK, attendance_date, attendance_status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420370">
                <a:tc>
                  <a:txBody>
                    <a:bodyPr/>
                    <a:p>
                      <a:r>
                        <a:rPr lang="en-US" altLang="zh-CN" sz="1600"/>
                        <a:t>Certificates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certificate_id PK, registration_id FK, certificate_type, issue_date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552450" y="499110"/>
            <a:ext cx="6709410" cy="736600"/>
          </a:xfrm>
        </p:spPr>
        <p:txBody>
          <a:bodyPr/>
          <a:p>
            <a:r>
              <a:rPr altLang="en-GB" b="1">
                <a:ln/>
                <a:solidFill>
                  <a:schemeClr val="accent1"/>
                </a:solidFill>
                <a:effectLst>
                  <a:outerShdw blurRad="38100" dist="25400" dir="5400000" algn="ctr" rotWithShape="0">
                    <a:srgbClr val="6E747A">
                      <a:alpha val="43000"/>
                    </a:srgbClr>
                  </a:outerShdw>
                </a:effectLst>
                <a:cs typeface="Arial" panose="020B0604020202020204" pitchFamily="34" charset="0"/>
              </a:rPr>
              <a:t>Database Design - ER Diagram</a:t>
            </a:r>
            <a:endParaRPr altLang="en-GB" b="1">
              <a:ln/>
              <a:solidFill>
                <a:schemeClr val="accent1"/>
              </a:solidFill>
              <a:effectLst>
                <a:outerShdw blurRad="38100" dist="25400" dir="5400000" algn="ctr" rotWithShape="0">
                  <a:srgbClr val="6E747A">
                    <a:alpha val="43000"/>
                  </a:srgbClr>
                </a:outerShdw>
              </a:effectLst>
              <a:cs typeface="Arial" panose="020B0604020202020204" pitchFamily="34" charset="0"/>
            </a:endParaRPr>
          </a:p>
        </p:txBody>
      </p:sp>
      <p:pic>
        <p:nvPicPr>
          <p:cNvPr id="6" name="Picture 5" descr="Screenshot 2026-10-23 111544"/>
          <p:cNvPicPr>
            <a:picLocks noChangeAspect="1"/>
          </p:cNvPicPr>
          <p:nvPr/>
        </p:nvPicPr>
        <p:blipFill>
          <a:blip r:embed="rId1"/>
          <a:srcRect t="10368" r="5"/>
          <a:stretch>
            <a:fillRect/>
          </a:stretch>
        </p:blipFill>
        <p:spPr>
          <a:xfrm>
            <a:off x="635" y="1233805"/>
            <a:ext cx="12191365" cy="5623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522605"/>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DATABASE SETUP </a:t>
            </a:r>
            <a:endParaRPr lang="en-US" sz="1200" dirty="0"/>
          </a:p>
        </p:txBody>
      </p:sp>
      <p:sp>
        <p:nvSpPr>
          <p:cNvPr id="3" name="Text 1"/>
          <p:cNvSpPr/>
          <p:nvPr>
            <p:ph type="title"/>
          </p:nvPr>
        </p:nvSpPr>
        <p:spPr>
          <a:xfrm>
            <a:off x="812800" y="975360"/>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CREATE TABLE Statements</a:t>
            </a:r>
            <a:endParaRPr lang="en-US" sz="3000" dirty="0"/>
          </a:p>
        </p:txBody>
      </p:sp>
      <p:sp>
        <p:nvSpPr>
          <p:cNvPr id="4" name="Text 2"/>
          <p:cNvSpPr/>
          <p:nvPr/>
        </p:nvSpPr>
        <p:spPr>
          <a:xfrm>
            <a:off x="812800" y="2091055"/>
            <a:ext cx="5181600" cy="2457450"/>
          </a:xfrm>
          <a:prstGeom prst="roundRect">
            <a:avLst>
              <a:gd name="adj" fmla="val 6345"/>
            </a:avLst>
          </a:prstGeom>
          <a:solidFill>
            <a:srgbClr val="0B1424"/>
          </a:solidFill>
        </p:spPr>
        <p:txBody>
          <a:bodyPr wrap="square" lIns="191403" tIns="140603" rIns="49671"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TABLE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PRIMARY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event_name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event_type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event_date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DATE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venue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registration_fee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DECIMAL</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(8,2)</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5" name="Text 3"/>
          <p:cNvSpPr/>
          <p:nvPr/>
        </p:nvSpPr>
        <p:spPr>
          <a:xfrm>
            <a:off x="6294120" y="2098675"/>
            <a:ext cx="5181600" cy="2449830"/>
          </a:xfrm>
          <a:prstGeom prst="roundRect">
            <a:avLst>
              <a:gd name="adj" fmla="val 7072"/>
            </a:avLst>
          </a:prstGeom>
          <a:solidFill>
            <a:srgbClr val="0B1424"/>
          </a:solidFill>
        </p:spPr>
        <p:txBody>
          <a:bodyPr wrap="square" lIns="191403" tIns="140603" rIns="49671"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TABLE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 (</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PRIMARY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participant_name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email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phone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(15),</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city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7" name="Text 5"/>
          <p:cNvSpPr/>
          <p:nvPr/>
        </p:nvSpPr>
        <p:spPr>
          <a:xfrm>
            <a:off x="812800" y="6238241"/>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8" name="Text 6"/>
          <p:cNvSpPr/>
          <p:nvPr/>
        </p:nvSpPr>
        <p:spPr>
          <a:xfrm>
            <a:off x="10058400" y="6238241"/>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02 / 19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38810" y="446405"/>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DATABASE SETUP </a:t>
            </a:r>
            <a:endParaRPr lang="en-US" sz="1200" dirty="0"/>
          </a:p>
        </p:txBody>
      </p:sp>
      <p:sp>
        <p:nvSpPr>
          <p:cNvPr id="3" name="Text 1"/>
          <p:cNvSpPr/>
          <p:nvPr>
            <p:ph type="title"/>
          </p:nvPr>
        </p:nvSpPr>
        <p:spPr>
          <a:xfrm>
            <a:off x="638810" y="894081"/>
            <a:ext cx="10883392" cy="444500"/>
          </a:xfrm>
          <a:prstGeom prst="rect">
            <a:avLst/>
          </a:prstGeom>
          <a:noFill/>
        </p:spPr>
        <p:txBody>
          <a:bodyPr wrap="square" lIns="0" tIns="0" rIns="0" bIns="0" rtlCol="0" anchor="t">
            <a:normAutofit/>
          </a:bodyPr>
          <a:lstStyle/>
          <a:p>
            <a:pPr marL="0" indent="0" algn="l">
              <a:lnSpc>
                <a:spcPts val="3300"/>
              </a:lnSpc>
              <a:buNone/>
            </a:pPr>
            <a:r>
              <a:rPr lang="en-US" sz="2800" b="1" i="0" dirty="0">
                <a:solidFill>
                  <a:srgbClr val="14213D"/>
                </a:solidFill>
                <a:latin typeface="Arial" panose="020B0604020202020204" pitchFamily="34" charset="0"/>
                <a:ea typeface="Arial" panose="020B0604020202020204" pitchFamily="34" charset="-122"/>
                <a:cs typeface="Arial" panose="020B0604020202020204" pitchFamily="34" charset="-120"/>
              </a:rPr>
              <a:t>CREATE TABLE Statements</a:t>
            </a:r>
            <a:endParaRPr lang="en-US" sz="2800" b="1" i="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4" name="Text 2"/>
          <p:cNvSpPr/>
          <p:nvPr/>
        </p:nvSpPr>
        <p:spPr>
          <a:xfrm>
            <a:off x="638810" y="2800985"/>
            <a:ext cx="5181600" cy="3167380"/>
          </a:xfrm>
          <a:prstGeom prst="roundRect">
            <a:avLst>
              <a:gd name="adj" fmla="val 4850"/>
            </a:avLst>
          </a:prstGeom>
          <a:solidFill>
            <a:srgbClr val="0B1424"/>
          </a:solidFill>
        </p:spPr>
        <p:txBody>
          <a:bodyPr wrap="square" lIns="191403" tIns="140603" rIns="49671" bIns="115203" rtlCol="0" anchor="t">
            <a:no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TABLE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 (</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PRIMARY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registration_date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DATE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registration_status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FOREIGN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REFERENCES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Events(event_id),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FOREIGN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REFERENCES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Participants(participant_id)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5" name="Text 3"/>
          <p:cNvSpPr/>
          <p:nvPr/>
        </p:nvSpPr>
        <p:spPr>
          <a:xfrm>
            <a:off x="638810" y="1546860"/>
            <a:ext cx="5181600" cy="998220"/>
          </a:xfrm>
          <a:prstGeom prst="roundRect">
            <a:avLst>
              <a:gd name="adj" fmla="val 10178"/>
            </a:avLst>
          </a:prstGeom>
          <a:solidFill>
            <a:srgbClr val="E1EAE6"/>
          </a:solidFill>
        </p:spPr>
        <p:txBody>
          <a:bodyPr wrap="square" lIns="173442" tIns="122642" rIns="30186" bIns="97242" rtlCol="0" anchor="t">
            <a:normAutofit/>
          </a:bodyPr>
          <a:lstStyle/>
          <a:p>
            <a:pPr marL="0" indent="0" algn="l">
              <a:lnSpc>
                <a:spcPts val="182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Foreign keys connect Registrations to Events and Participants, and connect Attendance and Certificates back to Registrations. Create the parent tables first.</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6" name="Text 4"/>
          <p:cNvSpPr/>
          <p:nvPr/>
        </p:nvSpPr>
        <p:spPr>
          <a:xfrm>
            <a:off x="6197600" y="1546860"/>
            <a:ext cx="5181600" cy="2206625"/>
          </a:xfrm>
          <a:prstGeom prst="roundRect">
            <a:avLst>
              <a:gd name="adj" fmla="val 6345"/>
            </a:avLst>
          </a:prstGeom>
          <a:solidFill>
            <a:srgbClr val="0B1424"/>
          </a:solidFill>
        </p:spPr>
        <p:txBody>
          <a:bodyPr wrap="square" lIns="191403" tIns="140603" rIns="49671" bIns="115203" rtlCol="0" anchor="t">
            <a:noAutofit/>
          </a:bodyPr>
          <a:lstStyle/>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TABLE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 (</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PRIMARY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attendance_date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DATE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attendance_status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FOREIGN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REFERENCES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Registrations(registration_id)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7" name="Text 5"/>
          <p:cNvSpPr/>
          <p:nvPr/>
        </p:nvSpPr>
        <p:spPr>
          <a:xfrm>
            <a:off x="6197600" y="3879850"/>
            <a:ext cx="5181600" cy="2368550"/>
          </a:xfrm>
          <a:prstGeom prst="roundRect">
            <a:avLst>
              <a:gd name="adj" fmla="val 6345"/>
            </a:avLst>
          </a:prstGeom>
          <a:solidFill>
            <a:srgbClr val="0B1424"/>
          </a:solidFill>
        </p:spPr>
        <p:txBody>
          <a:bodyPr wrap="square" lIns="191403" tIns="140603" rIns="49671" bIns="115203" rtlCol="0" anchor="t">
            <a:normAutofit/>
          </a:bodyPr>
          <a:lstStyle/>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TABLE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Certificates (</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certificate_id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PRIMARY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certificate_type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VARCHAR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issue_date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DATE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FOREIGN KEY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REFERENCES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Registrations(registration_id)</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8" name="Text 6"/>
          <p:cNvSpPr/>
          <p:nvPr/>
        </p:nvSpPr>
        <p:spPr>
          <a:xfrm>
            <a:off x="812800" y="6238241"/>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9" name="Text 7"/>
          <p:cNvSpPr/>
          <p:nvPr/>
        </p:nvSpPr>
        <p:spPr>
          <a:xfrm>
            <a:off x="10058400" y="6238241"/>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03 / 19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 name="Text 1"/>
          <p:cNvSpPr/>
          <p:nvPr>
            <p:ph type="title"/>
          </p:nvPr>
        </p:nvSpPr>
        <p:spPr>
          <a:xfrm>
            <a:off x="683260" y="671196"/>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INSERT Statement: Events</a:t>
            </a:r>
            <a:endParaRPr lang="en-US" sz="3000" dirty="0"/>
          </a:p>
        </p:txBody>
      </p:sp>
      <p:sp>
        <p:nvSpPr>
          <p:cNvPr id="4" name="Text 2"/>
          <p:cNvSpPr/>
          <p:nvPr/>
        </p:nvSpPr>
        <p:spPr>
          <a:xfrm>
            <a:off x="683260" y="2324735"/>
            <a:ext cx="10825480" cy="3566795"/>
          </a:xfrm>
          <a:prstGeom prst="roundRect">
            <a:avLst>
              <a:gd name="adj" fmla="val 4850"/>
            </a:avLst>
          </a:prstGeom>
          <a:solidFill>
            <a:srgbClr val="0B1424"/>
          </a:solidFill>
        </p:spPr>
        <p:txBody>
          <a:bodyPr wrap="square" lIns="191403" tIns="140603" rIns="0" bIns="115203" rtlCol="0" anchor="t"/>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INSERT INTO</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(event_id, event_name, event_type, event_date, venue, registration_fee)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VALUES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(101,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'AI Summit 2026'</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'Workshop'</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'Hyderabad'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1500),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(102,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'Cloud Computing Expo'</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'Conference'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'Bengaluru'</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2000),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(103,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'Data Science Bootcamp'</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'Workshop'</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'Chennai'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1200),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(104,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'Cyber Security Meet'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'Seminar'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'Visakhapatnam'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800),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(105,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'Web Development Hackathon'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'Hackathon'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'Vijayawada'</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500),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(106,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'Machine Learning Conference'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'Conference'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'Hyderabad'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1800),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(107,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'DevOps Hands-on Lab'</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'Workshop'</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'2026-08-23'</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'Pune'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1000),</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(108,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'Tech Career Connect'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'Seminar'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'Kochi'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600);</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6" name="Text 4"/>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7" name="Text 5"/>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04 / 19</a:t>
            </a:r>
            <a:endParaRPr lang="en-US" sz="1200" dirty="0"/>
          </a:p>
        </p:txBody>
      </p:sp>
      <p:sp>
        <p:nvSpPr>
          <p:cNvPr id="8" name="Text 3"/>
          <p:cNvSpPr/>
          <p:nvPr/>
        </p:nvSpPr>
        <p:spPr>
          <a:xfrm>
            <a:off x="683260" y="1369695"/>
            <a:ext cx="10566400" cy="608965"/>
          </a:xfrm>
          <a:prstGeom prst="roundRect">
            <a:avLst>
              <a:gd name="adj" fmla="val 18957"/>
            </a:avLst>
          </a:prstGeom>
          <a:solidFill>
            <a:srgbClr val="E1EAE6"/>
          </a:solidFill>
        </p:spPr>
        <p:txBody>
          <a:bodyPr wrap="square" lIns="173442" tIns="122642" rIns="0" bIns="97242" rtlCol="0" anchor="t">
            <a:normAutofit/>
          </a:bodyPr>
          <a:lstStyle/>
          <a:p>
            <a:pPr marL="0" indent="0" algn="l">
              <a:lnSpc>
                <a:spcPts val="182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Insert Events and Participants first, because Registrations refers to both through foreign keys.</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 name="Text 1"/>
          <p:cNvSpPr/>
          <p:nvPr>
            <p:ph type="title"/>
          </p:nvPr>
        </p:nvSpPr>
        <p:spPr>
          <a:xfrm>
            <a:off x="748030" y="560070"/>
            <a:ext cx="10883265" cy="469265"/>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INSERT Statement: Participants</a:t>
            </a:r>
            <a:endParaRPr lang="en-US" sz="3000" dirty="0"/>
          </a:p>
        </p:txBody>
      </p:sp>
      <p:sp>
        <p:nvSpPr>
          <p:cNvPr id="4" name="Text 2"/>
          <p:cNvSpPr/>
          <p:nvPr/>
        </p:nvSpPr>
        <p:spPr>
          <a:xfrm>
            <a:off x="748030" y="1307465"/>
            <a:ext cx="10566400" cy="3834765"/>
          </a:xfrm>
          <a:prstGeom prst="roundRect">
            <a:avLst>
              <a:gd name="adj" fmla="val 3690"/>
            </a:avLst>
          </a:prstGeom>
          <a:solidFill>
            <a:srgbClr val="0B1424"/>
          </a:solidFill>
        </p:spPr>
        <p:txBody>
          <a:bodyPr wrap="square" lIns="191403" tIns="140603" rIns="0"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INSERT INTO</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(participant_id, participant_name, email, phone, city)</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VALUES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(201,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'Aarav'</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'aarav@gmail.com'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'9876501001'</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'Hyderabad'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(202,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'Bhavya'</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'bhavya@gmail.com'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'Vijayawada'</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(203,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'Charan'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'charan@gmail.com'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'9876501003'</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'Visakhapatnam'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(204,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'Divya'</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'divya@gmail.com'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'9876501004'</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'Bengaluru'</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(205,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'Esha'</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'esha@gmail.com'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'Chennai'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(206,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'Farhan'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'farhan@gmail.com'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'9876501006'</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'Mumbai'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(207,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'Gopi'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'gopi@gmail.com'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'9876501007'</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'Warangal'</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(208,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'Harini'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'harini@gmail.com'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'Guntur'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(209,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'Ishaan'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'ishaan@gmail.com'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'9876501009'</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'Pune'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(210,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'Kavya'</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'kavya@gmail.com'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'9876501010'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'Kochi'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(211,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'Manoj'</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'manoj@gmail.com'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'9876501011'</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'Hyderabad'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(212,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'Nandini'</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'nandini@gmail.com'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'9876501012'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'Bengaluru'</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6" name="Text 4"/>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7" name="Text 5"/>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05 / 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 name="Text 1"/>
          <p:cNvSpPr/>
          <p:nvPr>
            <p:ph type="title"/>
          </p:nvPr>
        </p:nvSpPr>
        <p:spPr>
          <a:xfrm>
            <a:off x="812800" y="630556"/>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INSERT Statement: Registrations</a:t>
            </a:r>
            <a:endParaRPr lang="en-US" sz="3000" dirty="0"/>
          </a:p>
        </p:txBody>
      </p:sp>
      <p:sp>
        <p:nvSpPr>
          <p:cNvPr id="4" name="Text 2"/>
          <p:cNvSpPr/>
          <p:nvPr/>
        </p:nvSpPr>
        <p:spPr>
          <a:xfrm>
            <a:off x="812165" y="2196465"/>
            <a:ext cx="10590530" cy="3362960"/>
          </a:xfrm>
          <a:prstGeom prst="roundRect">
            <a:avLst>
              <a:gd name="adj" fmla="val 4850"/>
            </a:avLst>
          </a:prstGeom>
          <a:solidFill>
            <a:srgbClr val="0B1424"/>
          </a:solidFill>
        </p:spPr>
        <p:txBody>
          <a:bodyPr wrap="square" lIns="191403" tIns="140603" rIns="0"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INSERT INTO</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(registration_id, event_id, participant_id, registration_date, registration_status)</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VALUES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(301,101,201,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),(302,101,202,</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'2026-07-21'</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(303,102,203,</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),(304,102,204,</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'2026-07-23'</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'Cancelled'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(305,103,205,</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'2026-07-24'</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),(306,103,206,</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(307,104,207,</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'2026-07-26'</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),(308,104,208,</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'2026-07-27'</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(309,105,209,</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),(310,106,210,</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'2026-07-29'</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(311,106,201,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'2026-07-30'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),(312,107,211,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'2026-07-31'</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(313,107,212,</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'2026-08-01'</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'Cancelled'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),(314,108,203,</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(315,103,201,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'2026-08-03'</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),(316,105,205,</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'2026-08-04'</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'Confirmed'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5" name="Text 3"/>
          <p:cNvSpPr/>
          <p:nvPr/>
        </p:nvSpPr>
        <p:spPr>
          <a:xfrm>
            <a:off x="747395" y="1367790"/>
            <a:ext cx="10566400" cy="535940"/>
          </a:xfrm>
          <a:prstGeom prst="roundRect">
            <a:avLst>
              <a:gd name="adj" fmla="val 18957"/>
            </a:avLst>
          </a:prstGeom>
          <a:solidFill>
            <a:srgbClr val="E1EAE6"/>
          </a:solidFill>
        </p:spPr>
        <p:txBody>
          <a:bodyPr wrap="square" lIns="173442" tIns="122642" rIns="0" bIns="97242" rtlCol="0" anchor="t">
            <a:normAutofit/>
          </a:bodyPr>
          <a:lstStyle/>
          <a:p>
            <a:pPr marL="0" indent="0" algn="l">
              <a:lnSpc>
                <a:spcPts val="182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Each row links one participant to one event. The status is either Confirmed or Cancelled.</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6" name="Text 4"/>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7" name="Text 5"/>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06 / 19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 name="Text 1"/>
          <p:cNvSpPr/>
          <p:nvPr>
            <p:ph type="title"/>
          </p:nvPr>
        </p:nvSpPr>
        <p:spPr>
          <a:xfrm>
            <a:off x="725805" y="530861"/>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INSERT Statement: Attendance</a:t>
            </a:r>
            <a:endParaRPr lang="en-US" sz="3000" dirty="0"/>
          </a:p>
        </p:txBody>
      </p:sp>
      <p:sp>
        <p:nvSpPr>
          <p:cNvPr id="4" name="Text 2"/>
          <p:cNvSpPr/>
          <p:nvPr/>
        </p:nvSpPr>
        <p:spPr>
          <a:xfrm>
            <a:off x="812800" y="2048510"/>
            <a:ext cx="10566400" cy="3282315"/>
          </a:xfrm>
          <a:prstGeom prst="roundRect">
            <a:avLst>
              <a:gd name="adj" fmla="val 5263"/>
            </a:avLst>
          </a:prstGeom>
          <a:solidFill>
            <a:srgbClr val="0B1424"/>
          </a:solidFill>
        </p:spPr>
        <p:txBody>
          <a:bodyPr wrap="square" lIns="191403" tIns="140603" rIns="0"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INSERT INTO</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(attendance_id, registration_id, attendance_date, attendance_status)</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VALUES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(401,301,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),(402,302,</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(403,303,</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),(404,305,</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'Absent'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(405,306,</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),(406,307,</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(407,308,</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'Absent'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),(408,309,</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(409,310,</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),(410,311,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(411,312,</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'2026-08-23'</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),(412,314,</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'Absent'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(413,315,</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),(414,316,</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'Present'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5" name="Text 3"/>
          <p:cNvSpPr/>
          <p:nvPr/>
        </p:nvSpPr>
        <p:spPr>
          <a:xfrm>
            <a:off x="812800" y="1177291"/>
            <a:ext cx="10566400" cy="535940"/>
          </a:xfrm>
          <a:prstGeom prst="roundRect">
            <a:avLst>
              <a:gd name="adj" fmla="val 18957"/>
            </a:avLst>
          </a:prstGeom>
          <a:solidFill>
            <a:srgbClr val="E1EAE6"/>
          </a:solidFill>
        </p:spPr>
        <p:txBody>
          <a:bodyPr wrap="square" lIns="173442" tIns="122642" rIns="0" bIns="97242" rtlCol="0" anchor="t">
            <a:normAutofit/>
          </a:bodyPr>
          <a:lstStyle/>
          <a:p>
            <a:pPr marL="0" indent="0" algn="l">
              <a:lnSpc>
                <a:spcPts val="182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Attendance is recorded against a registration, and the status is either Present or Absent.</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6" name="Text 4"/>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7" name="Text 5"/>
          <p:cNvSpPr/>
          <p:nvPr/>
        </p:nvSpPr>
        <p:spPr>
          <a:xfrm>
            <a:off x="10058400" y="6238239"/>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07 / 19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3" name="Text 1"/>
          <p:cNvSpPr/>
          <p:nvPr>
            <p:ph type="title"/>
          </p:nvPr>
        </p:nvSpPr>
        <p:spPr>
          <a:xfrm>
            <a:off x="812800" y="975361"/>
            <a:ext cx="10883392"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INSERT Statement: Certificates</a:t>
            </a:r>
            <a:endParaRPr lang="en-US" sz="3000" dirty="0"/>
          </a:p>
        </p:txBody>
      </p:sp>
      <p:sp>
        <p:nvSpPr>
          <p:cNvPr id="4" name="Text 2"/>
          <p:cNvSpPr/>
          <p:nvPr/>
        </p:nvSpPr>
        <p:spPr>
          <a:xfrm>
            <a:off x="716280" y="2618740"/>
            <a:ext cx="10566400" cy="2776220"/>
          </a:xfrm>
          <a:prstGeom prst="roundRect">
            <a:avLst>
              <a:gd name="adj" fmla="val 5754"/>
            </a:avLst>
          </a:prstGeom>
          <a:solidFill>
            <a:srgbClr val="0B1424"/>
          </a:solidFill>
        </p:spPr>
        <p:txBody>
          <a:bodyPr wrap="square" lIns="191403" tIns="140603" rIns="0"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INSERT INTO</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Certificates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(certificate_id, registration_id, certificate_type, issue_date)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VALUES</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(501,301,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),(502,302,</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(503,303,</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'2026-08-08'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),(504,306,</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(505,307,</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),(506,309,</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'Winner'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'2026-08-18'</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(507,310,</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),(508,311,</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'2026-08-20'</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(509,312,</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'2026-08-23'</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),(510,314,</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'2026-08-25'</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(511,315,</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'Participation'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'2026-08-12'</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5" name="Text 3"/>
          <p:cNvSpPr/>
          <p:nvPr/>
        </p:nvSpPr>
        <p:spPr>
          <a:xfrm>
            <a:off x="716280" y="1668781"/>
            <a:ext cx="10566400" cy="535940"/>
          </a:xfrm>
          <a:prstGeom prst="roundRect">
            <a:avLst>
              <a:gd name="adj" fmla="val 18957"/>
            </a:avLst>
          </a:prstGeom>
          <a:solidFill>
            <a:srgbClr val="E1EAE6"/>
          </a:solidFill>
        </p:spPr>
        <p:txBody>
          <a:bodyPr wrap="square" lIns="173442" tIns="122642" rIns="0" bIns="97242" rtlCol="0" anchor="t">
            <a:normAutofit/>
          </a:bodyPr>
          <a:lstStyle/>
          <a:p>
            <a:pPr marL="0" indent="0" algn="l">
              <a:lnSpc>
                <a:spcPts val="182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Certificates are issued against a registration as either Participation or Winner.</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6" name="Text 4"/>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7" name="Text 5"/>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08 / 19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74370" y="2479675"/>
            <a:ext cx="6004560" cy="898525"/>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1</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a:p>
            <a:pPr marL="0" indent="0" algn="l">
              <a:lnSpc>
                <a:spcPts val="1680"/>
              </a:lnSpc>
              <a:buNone/>
            </a:pPr>
            <a:endParaRPr lang="en-US" sz="12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a:p>
            <a:pPr marL="0" indent="0" algn="l">
              <a:lnSpc>
                <a:spcPts val="1680"/>
              </a:lnSpc>
              <a:buNone/>
            </a:pPr>
            <a:r>
              <a:rPr lang="en-US" sz="1600" dirty="0"/>
              <a:t> </a:t>
            </a: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sym typeface="+mn-ea"/>
              </a:rPr>
              <a:t>Display all events with their event type and venue.</a:t>
            </a:r>
            <a:endParaRPr lang="en-US" sz="1600" dirty="0"/>
          </a:p>
          <a:p>
            <a:pPr marL="0" indent="0" algn="l">
              <a:lnSpc>
                <a:spcPts val="1680"/>
              </a:lnSpc>
              <a:buNone/>
            </a:pPr>
            <a:endParaRPr lang="en-US" sz="1600" dirty="0"/>
          </a:p>
        </p:txBody>
      </p:sp>
      <p:sp>
        <p:nvSpPr>
          <p:cNvPr id="3" name="Text 1"/>
          <p:cNvSpPr/>
          <p:nvPr>
            <p:ph type="title"/>
          </p:nvPr>
        </p:nvSpPr>
        <p:spPr>
          <a:xfrm>
            <a:off x="674370" y="534039"/>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Basic DQL Commands</a:t>
            </a:r>
            <a:endParaRPr lang="en-US" sz="3000" dirty="0"/>
          </a:p>
        </p:txBody>
      </p:sp>
      <p:sp>
        <p:nvSpPr>
          <p:cNvPr id="5" name="Shape 3"/>
          <p:cNvSpPr/>
          <p:nvPr/>
        </p:nvSpPr>
        <p:spPr>
          <a:xfrm>
            <a:off x="674370" y="1094105"/>
            <a:ext cx="11089640" cy="1174750"/>
          </a:xfrm>
          <a:prstGeom prst="roundRect">
            <a:avLst>
              <a:gd name="adj" fmla="val 8583"/>
            </a:avLst>
          </a:prstGeom>
        </p:spPr>
        <p:style>
          <a:lnRef idx="2">
            <a:schemeClr val="lt1"/>
          </a:lnRef>
          <a:fillRef idx="1">
            <a:schemeClr val="accent1"/>
          </a:fillRef>
          <a:effectRef idx="1">
            <a:schemeClr val="accent1"/>
          </a:effectRef>
          <a:fontRef idx="minor">
            <a:schemeClr val="lt1"/>
          </a:fontRef>
        </p:style>
        <p:txBody>
          <a:bodyPr/>
          <a:p>
            <a:r>
              <a:rPr lang="en-US" altLang="en-GB" sz="1600"/>
              <a:t>DEFINITION</a:t>
            </a:r>
            <a:endParaRPr lang="en-US" altLang="en-GB" sz="1600"/>
          </a:p>
          <a:p>
            <a:endParaRPr lang="en-US" altLang="en-GB" sz="1600"/>
          </a:p>
          <a:p>
            <a:r>
              <a:rPr lang="en-US" altLang="en-GB" sz="1600"/>
              <a:t>DQL (Data Query Language) is used to retrieve data from a database. The SELECT statement is used to fetch specific columns or all records from a table without modifying the stored data.</a:t>
            </a:r>
            <a:endParaRPr lang="en-US" altLang="en-GB" sz="1600"/>
          </a:p>
          <a:p>
            <a:endParaRPr lang="en-US" altLang="en-GB" sz="1600"/>
          </a:p>
        </p:txBody>
      </p:sp>
      <p:sp>
        <p:nvSpPr>
          <p:cNvPr id="8" name="Text 6"/>
          <p:cNvSpPr/>
          <p:nvPr/>
        </p:nvSpPr>
        <p:spPr>
          <a:xfrm>
            <a:off x="674370" y="3500755"/>
            <a:ext cx="4866005" cy="1164590"/>
          </a:xfrm>
          <a:prstGeom prst="roundRect">
            <a:avLst>
              <a:gd name="adj" fmla="val 16556"/>
            </a:avLst>
          </a:prstGeom>
          <a:solidFill>
            <a:srgbClr val="0B1424"/>
          </a:solidFill>
        </p:spPr>
        <p:txBody>
          <a:bodyPr wrap="square" lIns="191403" tIns="140603" rIns="29859"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event_name, event_type, venue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9" name="Text 7"/>
          <p:cNvSpPr/>
          <p:nvPr/>
        </p:nvSpPr>
        <p:spPr>
          <a:xfrm>
            <a:off x="5775960" y="2479674"/>
            <a:ext cx="6017260" cy="238760"/>
          </a:xfrm>
          <a:prstGeom prst="rect">
            <a:avLst/>
          </a:prstGeom>
          <a:noFill/>
        </p:spPr>
        <p:txBody>
          <a:bodyPr wrap="square" lIns="0" tIns="0" rIns="0" bIns="0" rtlCol="0" anchor="t">
            <a:normAutofit/>
          </a:bodyPr>
          <a:lstStyle/>
          <a:p>
            <a:pPr marL="0" indent="0" algn="l">
              <a:lnSpc>
                <a:spcPts val="1680"/>
              </a:lnSpc>
              <a:buNone/>
            </a:pPr>
            <a:r>
              <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rPr>
              <a:t>SAMPLE OUTPUT</a:t>
            </a:r>
            <a:endPar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graphicFrame>
        <p:nvGraphicFramePr>
          <p:cNvPr id="10" name="Table 0"/>
          <p:cNvGraphicFramePr>
            <a:graphicFrameLocks noGrp="1"/>
          </p:cNvGraphicFramePr>
          <p:nvPr/>
        </p:nvGraphicFramePr>
        <p:xfrm>
          <a:off x="5775960" y="3075307"/>
          <a:ext cx="5831840" cy="1640840"/>
        </p:xfrm>
        <a:graphic>
          <a:graphicData uri="http://schemas.openxmlformats.org/drawingml/2006/table">
            <a:tbl>
              <a:tblPr/>
              <a:tblGrid>
                <a:gridCol w="2566010"/>
                <a:gridCol w="1632915"/>
                <a:gridCol w="1632915"/>
              </a:tblGrid>
              <a:tr h="300990">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event_name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event_type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venue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AI Summit 2026</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Workshop</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Hyderabad</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Cloud Computing Expo</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Conference</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Bengaluru</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Data Science Bootcamp</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Workshop</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Chennai</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Cyber Security Meet</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Seminar</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Visakhapatnam</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11" name="Text 8"/>
          <p:cNvSpPr/>
          <p:nvPr/>
        </p:nvSpPr>
        <p:spPr>
          <a:xfrm>
            <a:off x="674370" y="5073015"/>
            <a:ext cx="10688955" cy="767080"/>
          </a:xfrm>
          <a:prstGeom prst="roundRect">
            <a:avLst>
              <a:gd name="adj" fmla="val 13245"/>
            </a:avLst>
          </a:prstGeom>
          <a:solidFill>
            <a:srgbClr val="E1EAE6"/>
          </a:solidFill>
        </p:spPr>
        <p:txBody>
          <a:bodyPr wrap="square" lIns="173442" tIns="122642" rIns="10374" bIns="97242" rtlCol="0" anchor="t">
            <a:normAutofit/>
          </a:bodyPr>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The SELECT statement retrieves event names, types, and venues from the Events table.</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9"/>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3" name="Text 10"/>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09 / 19</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744855" y="2387600"/>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6</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744855" y="542929"/>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String Functions</a:t>
            </a:r>
            <a:endParaRPr lang="en-US" sz="3000" dirty="0"/>
          </a:p>
        </p:txBody>
      </p:sp>
      <p:sp>
        <p:nvSpPr>
          <p:cNvPr id="4" name="Text 2"/>
          <p:cNvSpPr/>
          <p:nvPr/>
        </p:nvSpPr>
        <p:spPr>
          <a:xfrm>
            <a:off x="744855" y="2809244"/>
            <a:ext cx="4447540" cy="282575"/>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Display participant names in uppercase.</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744855" y="1169035"/>
            <a:ext cx="10672445" cy="1035685"/>
          </a:xfrm>
          <a:prstGeom prst="roundRect">
            <a:avLst>
              <a:gd name="adj" fmla="val 7052"/>
            </a:avLst>
          </a:prstGeom>
          <a:solidFill>
            <a:srgbClr val="FCFCFA"/>
          </a:solidFill>
          <a:ln w="6350">
            <a:solidFill>
              <a:srgbClr val="D5DCD8"/>
            </a:solidFill>
            <a:prstDash val="solid"/>
          </a:ln>
        </p:spPr>
        <p:txBody>
          <a:bodyPr/>
          <a:p>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DEFINITION</a:t>
            </a:r>
            <a:endParaRPr lang="en-US"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endParaRPr>
          </a:p>
          <a:p>
            <a:endParaRPr lang="en-GB" altLang="en-US"/>
          </a:p>
          <a:p>
            <a:r>
              <a:rPr lang="en-US" altLang="en-GB" sz="1600"/>
              <a:t>String functions manipulate text data, such as changing case, extracting characters, or combining strings.</a:t>
            </a:r>
            <a:endParaRPr lang="en-US" altLang="en-GB" sz="1600"/>
          </a:p>
          <a:p>
            <a:endParaRPr lang="en-US" altLang="en-GB" sz="1600"/>
          </a:p>
        </p:txBody>
      </p:sp>
      <p:sp>
        <p:nvSpPr>
          <p:cNvPr id="8" name="Text 6"/>
          <p:cNvSpPr/>
          <p:nvPr/>
        </p:nvSpPr>
        <p:spPr>
          <a:xfrm>
            <a:off x="744855" y="3274695"/>
            <a:ext cx="4488815" cy="1673225"/>
          </a:xfrm>
          <a:prstGeom prst="roundRect">
            <a:avLst>
              <a:gd name="adj" fmla="val 13055"/>
            </a:avLst>
          </a:prstGeom>
          <a:solidFill>
            <a:srgbClr val="0B1424"/>
          </a:solidFill>
        </p:spPr>
        <p:txBody>
          <a:bodyPr wrap="square" lIns="191403" tIns="140603" rIns="29859"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UPPER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(participant_name)</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AS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Participant_Name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9" name="Text 7"/>
          <p:cNvSpPr/>
          <p:nvPr/>
        </p:nvSpPr>
        <p:spPr>
          <a:xfrm>
            <a:off x="2948305" y="5671186"/>
            <a:ext cx="6017260" cy="23876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anose="020B0604020202020204" pitchFamily="34" charset="0"/>
                <a:ea typeface="Arial" panose="020B0604020202020204" pitchFamily="34" charset="-122"/>
                <a:cs typeface="Arial" panose="020B0604020202020204" pitchFamily="34" charset="-120"/>
              </a:rPr>
              <a:t>BEFORE AND AFTER</a:t>
            </a:r>
            <a:endParaRPr lang="en-US" sz="1200" dirty="0"/>
          </a:p>
        </p:txBody>
      </p:sp>
      <p:graphicFrame>
        <p:nvGraphicFramePr>
          <p:cNvPr id="10" name="Table 0"/>
          <p:cNvGraphicFramePr>
            <a:graphicFrameLocks noGrp="1"/>
          </p:cNvGraphicFramePr>
          <p:nvPr/>
        </p:nvGraphicFramePr>
        <p:xfrm>
          <a:off x="5664200" y="3274694"/>
          <a:ext cx="5831840" cy="1692910"/>
        </p:xfrm>
        <a:graphic>
          <a:graphicData uri="http://schemas.openxmlformats.org/drawingml/2006/table">
            <a:tbl>
              <a:tblPr/>
              <a:tblGrid>
                <a:gridCol w="2915920"/>
                <a:gridCol w="2915920"/>
              </a:tblGrid>
              <a:tr h="372110">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Stored value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Query output</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Aarav</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AARAV</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Bhavya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BHAVYA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Charan</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CHARAN</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302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Divya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DIVYA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11" name="Text 8"/>
          <p:cNvSpPr/>
          <p:nvPr/>
        </p:nvSpPr>
        <p:spPr>
          <a:xfrm>
            <a:off x="744855" y="5313045"/>
            <a:ext cx="10751185" cy="767080"/>
          </a:xfrm>
          <a:prstGeom prst="roundRect">
            <a:avLst>
              <a:gd name="adj" fmla="val 13245"/>
            </a:avLst>
          </a:prstGeom>
          <a:solidFill>
            <a:srgbClr val="E1EAE6"/>
          </a:solidFill>
        </p:spPr>
        <p:txBody>
          <a:bodyPr wrap="square" lIns="173442" tIns="122642" rIns="10374" bIns="97242" rtlCol="0" anchor="t">
            <a:normAutofit/>
          </a:bodyPr>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The UPPER() function converts all participant names into capital letters. Example: Aarav → AARAV.</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9"/>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3" name="Text 10"/>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10 / 19</a:t>
            </a:r>
            <a:endParaRPr lang="en-US" sz="1200" dirty="0"/>
          </a:p>
        </p:txBody>
      </p:sp>
      <p:sp>
        <p:nvSpPr>
          <p:cNvPr id="14" name="Text Box 13"/>
          <p:cNvSpPr txBox="1"/>
          <p:nvPr/>
        </p:nvSpPr>
        <p:spPr>
          <a:xfrm>
            <a:off x="5622925" y="2510790"/>
            <a:ext cx="4435475" cy="337185"/>
          </a:xfrm>
          <a:prstGeom prst="rect">
            <a:avLst/>
          </a:prstGeom>
          <a:noFill/>
        </p:spPr>
        <p:txBody>
          <a:bodyPr wrap="square" rtlCol="0">
            <a:spAutoFit/>
          </a:bodyPr>
          <a:p>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SAMPLE OUTPUT</a:t>
            </a:r>
            <a:endParaRPr lang="en-US" alt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2324735"/>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12</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815975" y="556264"/>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Date Functions</a:t>
            </a:r>
            <a:endParaRPr lang="en-US" sz="3000" dirty="0"/>
          </a:p>
        </p:txBody>
      </p:sp>
      <p:sp>
        <p:nvSpPr>
          <p:cNvPr id="4" name="Text 2"/>
          <p:cNvSpPr/>
          <p:nvPr/>
        </p:nvSpPr>
        <p:spPr>
          <a:xfrm>
            <a:off x="812800" y="2693039"/>
            <a:ext cx="4447540" cy="282575"/>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Display the day name for each event date.</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812800" y="1033780"/>
            <a:ext cx="10555605" cy="1002030"/>
          </a:xfrm>
          <a:prstGeom prst="roundRect">
            <a:avLst>
              <a:gd name="adj" fmla="val 8583"/>
            </a:avLst>
          </a:prstGeom>
          <a:solidFill>
            <a:srgbClr val="FCFCFA"/>
          </a:solidFill>
          <a:ln w="6350">
            <a:solidFill>
              <a:srgbClr val="D5DCD8"/>
            </a:solidFill>
            <a:prstDash val="solid"/>
          </a:ln>
        </p:spPr>
        <p:txBody>
          <a:bodyPr/>
          <a:p>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DEFINITION</a:t>
            </a:r>
            <a:endParaRPr lang="en-US" sz="1600" dirty="0"/>
          </a:p>
          <a:p>
            <a:endParaRPr lang="en-GB" altLang="en-US"/>
          </a:p>
          <a:p>
            <a:r>
              <a:rPr lang="en-US" altLang="en-GB" sz="1600"/>
              <a:t>Date functions are used to extract, format, and calculate information from date values.</a:t>
            </a:r>
            <a:endParaRPr lang="en-US" altLang="en-GB" sz="1600"/>
          </a:p>
          <a:p>
            <a:endParaRPr lang="en-US" altLang="en-GB" sz="1600"/>
          </a:p>
        </p:txBody>
      </p:sp>
      <p:sp>
        <p:nvSpPr>
          <p:cNvPr id="8" name="Text 6"/>
          <p:cNvSpPr/>
          <p:nvPr/>
        </p:nvSpPr>
        <p:spPr>
          <a:xfrm>
            <a:off x="812800" y="3188970"/>
            <a:ext cx="4612005" cy="1873885"/>
          </a:xfrm>
          <a:prstGeom prst="roundRect">
            <a:avLst>
              <a:gd name="adj" fmla="val 10776"/>
            </a:avLst>
          </a:prstGeom>
          <a:solidFill>
            <a:srgbClr val="0B1424"/>
          </a:solidFill>
        </p:spPr>
        <p:txBody>
          <a:bodyPr wrap="square" lIns="191403" tIns="140603" rIns="29859" bIns="115203" rtlCol="0" anchor="t">
            <a:normAutofit/>
          </a:bodyPr>
          <a:lstStyle/>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event_name,event_date,</a:t>
            </a:r>
            <a:endParaRPr lang="en-US" sz="1600" dirty="0"/>
          </a:p>
          <a:p>
            <a:pPr marL="0" indent="0" algn="l">
              <a:lnSpc>
                <a:spcPts val="1620"/>
              </a:lnSpc>
              <a:buNone/>
            </a:pP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DAYNAME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(event_date)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AS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Day_Name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9" name="Text 7"/>
          <p:cNvSpPr/>
          <p:nvPr/>
        </p:nvSpPr>
        <p:spPr>
          <a:xfrm>
            <a:off x="5648325" y="2324739"/>
            <a:ext cx="6017260" cy="23876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4A5568"/>
                </a:solidFill>
                <a:latin typeface="Arial" panose="020B0604020202020204" pitchFamily="34" charset="0"/>
                <a:ea typeface="Arial" panose="020B0604020202020204" pitchFamily="34" charset="-122"/>
                <a:cs typeface="Arial" panose="020B0604020202020204" pitchFamily="34" charset="-120"/>
              </a:rPr>
              <a:t>SAMPLE OUTPUT</a:t>
            </a:r>
            <a:endParaRPr lang="en-US" sz="1200" dirty="0"/>
          </a:p>
        </p:txBody>
      </p:sp>
      <p:graphicFrame>
        <p:nvGraphicFramePr>
          <p:cNvPr id="10" name="Table 0"/>
          <p:cNvGraphicFramePr>
            <a:graphicFrameLocks noGrp="1"/>
          </p:cNvGraphicFramePr>
          <p:nvPr/>
        </p:nvGraphicFramePr>
        <p:xfrm>
          <a:off x="5547360" y="3202305"/>
          <a:ext cx="5831840" cy="1870075"/>
        </p:xfrm>
        <a:graphic>
          <a:graphicData uri="http://schemas.openxmlformats.org/drawingml/2006/table">
            <a:tbl>
              <a:tblPr/>
              <a:tblGrid>
                <a:gridCol w="2449195"/>
                <a:gridCol w="1749425"/>
                <a:gridCol w="1633220"/>
              </a:tblGrid>
              <a:tr h="374015">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event_name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event_date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Day_Name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r>
              <a:tr h="374015">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AI Summit 2026</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2026-08-05</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Wednesday</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74015">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Cloud Computing Expo</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2026-08-08</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Saturday</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74015">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Data Science Bootcamp</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2026-08-12</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Wednesday</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74015">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Cyber Security Meet</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2026-08-15</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Saturday</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11" name="Text 8"/>
          <p:cNvSpPr/>
          <p:nvPr/>
        </p:nvSpPr>
        <p:spPr>
          <a:xfrm>
            <a:off x="812800" y="5377815"/>
            <a:ext cx="10555605" cy="767080"/>
          </a:xfrm>
          <a:prstGeom prst="roundRect">
            <a:avLst>
              <a:gd name="adj" fmla="val 13245"/>
            </a:avLst>
          </a:prstGeom>
          <a:solidFill>
            <a:srgbClr val="E1EAE6"/>
          </a:solidFill>
        </p:spPr>
        <p:txBody>
          <a:bodyPr wrap="square" lIns="173442" tIns="122642" rIns="10374" bIns="97242" rtlCol="0" anchor="t">
            <a:normAutofit/>
          </a:bodyPr>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The DAYNAME() function returns the weekday for each event date. Example: 2026-08-05 → Wednesday.</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9"/>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3" name="Text 10"/>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11 / 19</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5975" y="2316480"/>
            <a:ext cx="4447540" cy="238760"/>
          </a:xfrm>
          <a:prstGeom prst="rect">
            <a:avLst/>
          </a:prstGeom>
          <a:noFill/>
        </p:spPr>
        <p:txBody>
          <a:bodyPr wrap="square" lIns="0" tIns="0" rIns="0" bIns="0" rtlCol="0" anchor="t">
            <a:no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16</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812800" y="523244"/>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Aggregate Functions</a:t>
            </a:r>
            <a:endParaRPr lang="en-US" sz="3000" dirty="0"/>
          </a:p>
        </p:txBody>
      </p:sp>
      <p:sp>
        <p:nvSpPr>
          <p:cNvPr id="4" name="Text 2"/>
          <p:cNvSpPr/>
          <p:nvPr/>
        </p:nvSpPr>
        <p:spPr>
          <a:xfrm>
            <a:off x="815975" y="2680974"/>
            <a:ext cx="4447540" cy="282575"/>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Count registrations for each event.</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815975" y="1047750"/>
            <a:ext cx="10879455" cy="1030605"/>
          </a:xfrm>
          <a:prstGeom prst="roundRect">
            <a:avLst>
              <a:gd name="adj" fmla="val 7052"/>
            </a:avLst>
          </a:prstGeom>
          <a:solidFill>
            <a:srgbClr val="FCFCFA"/>
          </a:solidFill>
          <a:ln w="6350">
            <a:solidFill>
              <a:srgbClr val="D5DCD8"/>
            </a:solidFill>
            <a:prstDash val="solid"/>
          </a:ln>
        </p:spPr>
        <p:txBody>
          <a:bodyPr/>
          <a:p>
            <a:pPr>
              <a:lnSpc>
                <a:spcPct val="150000"/>
              </a:lnSpc>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DEFINITION</a:t>
            </a:r>
            <a:endParaRPr lang="en-GB" altLang="en-US"/>
          </a:p>
          <a:p>
            <a:pPr>
              <a:lnSpc>
                <a:spcPct val="150000"/>
              </a:lnSpc>
            </a:pPr>
            <a:r>
              <a:rPr lang="en-US" altLang="en-GB" sz="1600"/>
              <a:t>Aggregate functions perform calculations on multiple rows and return a single result for each group.</a:t>
            </a:r>
            <a:endParaRPr lang="en-US" altLang="en-GB" sz="1600"/>
          </a:p>
        </p:txBody>
      </p:sp>
      <p:sp>
        <p:nvSpPr>
          <p:cNvPr id="8" name="Text 6"/>
          <p:cNvSpPr/>
          <p:nvPr/>
        </p:nvSpPr>
        <p:spPr>
          <a:xfrm>
            <a:off x="812800" y="3089275"/>
            <a:ext cx="5153025" cy="2338070"/>
          </a:xfrm>
          <a:prstGeom prst="roundRect">
            <a:avLst>
              <a:gd name="adj" fmla="val 7987"/>
            </a:avLst>
          </a:prstGeom>
          <a:solidFill>
            <a:srgbClr val="0B1424"/>
          </a:solidFill>
        </p:spPr>
        <p:txBody>
          <a:bodyPr wrap="square" lIns="191403" tIns="140603" rIns="29859" bIns="115203" rtlCol="0" anchor="t">
            <a:normAutofit/>
          </a:bodyPr>
          <a:lstStyle/>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e.event_name,</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COUNT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(r.registration_id)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AS</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Total_Registrations</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LEFT 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 r</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e.event_id = r.event_id</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GROUP BY</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e.event_id, e.event_name;</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9" name="Text 7"/>
          <p:cNvSpPr/>
          <p:nvPr/>
        </p:nvSpPr>
        <p:spPr>
          <a:xfrm>
            <a:off x="6296660" y="2442212"/>
            <a:ext cx="6017260" cy="238760"/>
          </a:xfrm>
          <a:prstGeom prst="rect">
            <a:avLst/>
          </a:prstGeom>
          <a:noFill/>
        </p:spPr>
        <p:txBody>
          <a:bodyPr wrap="square" lIns="0" tIns="0" rIns="0" bIns="0" rtlCol="0" anchor="t">
            <a:normAutofit/>
          </a:bodyPr>
          <a:lstStyle/>
          <a:p>
            <a:pPr marL="0" indent="0" algn="l">
              <a:lnSpc>
                <a:spcPts val="1680"/>
              </a:lnSpc>
              <a:buNone/>
            </a:pPr>
            <a:r>
              <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rPr>
              <a:t>SAMPLE OUTPUT</a:t>
            </a:r>
            <a:endPar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graphicFrame>
        <p:nvGraphicFramePr>
          <p:cNvPr id="10" name="Table 0"/>
          <p:cNvGraphicFramePr>
            <a:graphicFrameLocks noGrp="1"/>
          </p:cNvGraphicFramePr>
          <p:nvPr>
            <p:custDataLst>
              <p:tags r:id="rId1"/>
            </p:custDataLst>
          </p:nvPr>
        </p:nvGraphicFramePr>
        <p:xfrm>
          <a:off x="6296660" y="3089275"/>
          <a:ext cx="5209540" cy="2114550"/>
        </p:xfrm>
        <a:graphic>
          <a:graphicData uri="http://schemas.openxmlformats.org/drawingml/2006/table">
            <a:tbl>
              <a:tblPr/>
              <a:tblGrid>
                <a:gridCol w="2865120"/>
                <a:gridCol w="2344420"/>
              </a:tblGrid>
              <a:tr h="422910">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event_name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Total_Registrations</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r>
              <a:tr h="42291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AI Summit 2026</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42291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Cloud Computing Expo</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42291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Data Science Bootcamp</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3</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42291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Tech Career Connect</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1</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11" name="Text 8"/>
          <p:cNvSpPr/>
          <p:nvPr/>
        </p:nvSpPr>
        <p:spPr>
          <a:xfrm>
            <a:off x="1006475" y="5709920"/>
            <a:ext cx="9821545" cy="474345"/>
          </a:xfrm>
          <a:prstGeom prst="roundRect">
            <a:avLst>
              <a:gd name="adj" fmla="val 13245"/>
            </a:avLst>
          </a:prstGeom>
          <a:solidFill>
            <a:srgbClr val="E1EAE6"/>
          </a:solidFill>
        </p:spPr>
        <p:txBody>
          <a:bodyPr wrap="square" lIns="173442" tIns="122642" rIns="10374" bIns="97242" rtlCol="0" anchor="t"/>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COUNT() counts the registrations, while GROUP BY groups the results by event.</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9"/>
          <p:cNvSpPr/>
          <p:nvPr/>
        </p:nvSpPr>
        <p:spPr>
          <a:xfrm>
            <a:off x="812800" y="624840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3" name="Text 10"/>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12 / 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720090" y="2285365"/>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24</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720090" y="556264"/>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Joins</a:t>
            </a:r>
            <a:endParaRPr lang="en-US" sz="3000" dirty="0"/>
          </a:p>
        </p:txBody>
      </p:sp>
      <p:sp>
        <p:nvSpPr>
          <p:cNvPr id="4" name="Text 2"/>
          <p:cNvSpPr/>
          <p:nvPr/>
        </p:nvSpPr>
        <p:spPr>
          <a:xfrm>
            <a:off x="720090" y="2577465"/>
            <a:ext cx="5978525" cy="370205"/>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Display event names, participant names, and registration dates.</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720090" y="1172845"/>
            <a:ext cx="10804525" cy="956945"/>
          </a:xfrm>
          <a:prstGeom prst="roundRect">
            <a:avLst>
              <a:gd name="adj" fmla="val 8583"/>
            </a:avLst>
          </a:prstGeom>
          <a:solidFill>
            <a:srgbClr val="FCFCFA"/>
          </a:solidFill>
          <a:ln w="6350">
            <a:solidFill>
              <a:srgbClr val="D5DCD8"/>
            </a:solidFill>
            <a:prstDash val="solid"/>
          </a:ln>
        </p:spPr>
        <p:txBody>
          <a:bodyPr/>
          <a:p>
            <a:pPr>
              <a:lnSpc>
                <a:spcPct val="150000"/>
              </a:lnSpc>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DEFINITION</a:t>
            </a:r>
            <a:endParaRPr lang="en-US" sz="1600" dirty="0"/>
          </a:p>
          <a:p>
            <a:pPr>
              <a:lnSpc>
                <a:spcPct val="150000"/>
              </a:lnSpc>
            </a:pPr>
            <a:r>
              <a:rPr lang="en-US" altLang="en-GB" sz="1600"/>
              <a:t>Joins combine related data from two or more tables using common columns</a:t>
            </a:r>
            <a:r>
              <a:rPr lang="en-US" altLang="en-GB"/>
              <a:t>.</a:t>
            </a:r>
            <a:endParaRPr lang="en-US" altLang="en-GB"/>
          </a:p>
          <a:p>
            <a:endParaRPr lang="en-US" altLang="en-GB"/>
          </a:p>
        </p:txBody>
      </p:sp>
      <p:sp>
        <p:nvSpPr>
          <p:cNvPr id="8" name="Text 6"/>
          <p:cNvSpPr/>
          <p:nvPr/>
        </p:nvSpPr>
        <p:spPr>
          <a:xfrm>
            <a:off x="720090" y="2983230"/>
            <a:ext cx="5555615" cy="2217420"/>
          </a:xfrm>
          <a:prstGeom prst="roundRect">
            <a:avLst>
              <a:gd name="adj" fmla="val 6345"/>
            </a:avLst>
          </a:prstGeom>
          <a:solidFill>
            <a:srgbClr val="0B1424"/>
          </a:solidFill>
        </p:spPr>
        <p:txBody>
          <a:bodyPr wrap="square" lIns="191403" tIns="140603" rIns="29859" bIns="115203" rtlCol="0" anchor="t">
            <a:normAutofit/>
          </a:bodyPr>
          <a:lstStyle/>
          <a:p>
            <a:pPr marL="0" indent="0" algn="l">
              <a:lnSpc>
                <a:spcPct val="10000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ct val="10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e.event_name,p.participant_name,</a:t>
            </a:r>
            <a:endParaRPr lang="en-US" sz="1600" dirty="0"/>
          </a:p>
          <a:p>
            <a:pPr marL="0" indent="0" algn="l">
              <a:lnSpc>
                <a:spcPct val="10000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r.registration_date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e</a:t>
            </a:r>
            <a:endParaRPr lang="en-US" sz="1600" dirty="0"/>
          </a:p>
          <a:p>
            <a:pPr marL="0" indent="0" algn="l">
              <a:lnSpc>
                <a:spcPct val="10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 r</a:t>
            </a:r>
            <a:endParaRPr lang="en-US" sz="1600" dirty="0"/>
          </a:p>
          <a:p>
            <a:pPr marL="0" indent="0" algn="l">
              <a:lnSpc>
                <a:spcPct val="10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e.event_id = r.event_id</a:t>
            </a:r>
            <a:endParaRPr lang="en-US" sz="1600" dirty="0"/>
          </a:p>
          <a:p>
            <a:pPr marL="0" indent="0" algn="l">
              <a:lnSpc>
                <a:spcPct val="10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 p</a:t>
            </a:r>
            <a:endParaRPr lang="en-US" sz="1600" dirty="0"/>
          </a:p>
          <a:p>
            <a:pPr marL="0" indent="0" algn="l">
              <a:lnSpc>
                <a:spcPct val="10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r.participant_id = p.participant_id;</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9" name="Text 7"/>
          <p:cNvSpPr/>
          <p:nvPr/>
        </p:nvSpPr>
        <p:spPr>
          <a:xfrm>
            <a:off x="6699250" y="2491740"/>
            <a:ext cx="4118610" cy="238760"/>
          </a:xfrm>
          <a:prstGeom prst="rect">
            <a:avLst/>
          </a:prstGeom>
          <a:noFill/>
        </p:spPr>
        <p:txBody>
          <a:bodyPr wrap="square" lIns="0" tIns="0" rIns="0" bIns="0" rtlCol="0" anchor="t">
            <a:normAutofit/>
          </a:bodyPr>
          <a:lstStyle/>
          <a:p>
            <a:pPr marL="0" indent="0" algn="l">
              <a:lnSpc>
                <a:spcPts val="1680"/>
              </a:lnSpc>
              <a:buNone/>
            </a:pPr>
            <a:r>
              <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rPr>
              <a:t>SAMPLE OUTPUT</a:t>
            </a:r>
            <a:endPar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graphicFrame>
        <p:nvGraphicFramePr>
          <p:cNvPr id="10" name="Table 0"/>
          <p:cNvGraphicFramePr>
            <a:graphicFrameLocks noGrp="1"/>
          </p:cNvGraphicFramePr>
          <p:nvPr>
            <p:custDataLst>
              <p:tags r:id="rId1"/>
            </p:custDataLst>
          </p:nvPr>
        </p:nvGraphicFramePr>
        <p:xfrm>
          <a:off x="6470015" y="2962275"/>
          <a:ext cx="5461635" cy="2225040"/>
        </p:xfrm>
        <a:graphic>
          <a:graphicData uri="http://schemas.openxmlformats.org/drawingml/2006/table">
            <a:tbl>
              <a:tblPr/>
              <a:tblGrid>
                <a:gridCol w="1790700"/>
                <a:gridCol w="1830070"/>
                <a:gridCol w="1840865"/>
              </a:tblGrid>
              <a:tr h="517525">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event_name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participant_name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c>
                  <a:txBody>
                    <a:bodyPr/>
                    <a:lstStyle/>
                    <a:p>
                      <a:pPr marL="0" indent="0">
                        <a:lnSpc>
                          <a:spcPts val="1680"/>
                        </a:lnSpc>
                        <a:buNone/>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rPr>
                        <a:t>registration_date</a:t>
                      </a:r>
                      <a:endPar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A6B3AE"/>
                      </a:solidFill>
                      <a:prstDash val="solid"/>
                      <a:round/>
                      <a:headEnd type="none" w="med" len="med"/>
                      <a:tailEnd type="none" w="med" len="med"/>
                    </a:lnL>
                    <a:lnR w="12700" cap="flat" cmpd="sng" algn="ctr">
                      <a:solidFill>
                        <a:srgbClr val="A6B3AE"/>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A6B3AE"/>
                      </a:solidFill>
                      <a:prstDash val="solid"/>
                      <a:round/>
                      <a:headEnd type="none" w="med" len="med"/>
                      <a:tailEnd type="none" w="med" len="med"/>
                    </a:lnB>
                    <a:solidFill>
                      <a:srgbClr val="CFE0DA"/>
                    </a:solidFill>
                  </a:tcPr>
                </a:tc>
              </a:tr>
              <a:tr h="32004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AI Summit 2026</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Aarav</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2026-07-20</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A6B3AE"/>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20675">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AI Summit 2026</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Bhavya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2026-07-21</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334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Cloud Computing Expo</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Charan</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2026-07-22</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33400">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Cloud Computing Expo</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Divya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marL="0" indent="0">
                        <a:lnSpc>
                          <a:spcPts val="168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2026-07-23</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a:txBody>
                  <a:tcPr marL="53340" marR="53340" marT="53340" marB="5334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11" name="Text 8"/>
          <p:cNvSpPr/>
          <p:nvPr/>
        </p:nvSpPr>
        <p:spPr>
          <a:xfrm>
            <a:off x="672465" y="5443220"/>
            <a:ext cx="10706735" cy="767080"/>
          </a:xfrm>
          <a:prstGeom prst="roundRect">
            <a:avLst>
              <a:gd name="adj" fmla="val 13245"/>
            </a:avLst>
          </a:prstGeom>
          <a:solidFill>
            <a:srgbClr val="E1EAE6"/>
          </a:solidFill>
        </p:spPr>
        <p:txBody>
          <a:bodyPr wrap="square" lIns="173442" tIns="122642" rIns="10374" bIns="97242" rtlCol="0" anchor="t">
            <a:normAutofit/>
          </a:bodyPr>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This query connects three tables to show which participant registered for which event, and when.</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12" name="Text 9"/>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3" name="Text 10"/>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13 / 19</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85165" y="1919605"/>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30</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680085" y="532130"/>
            <a:ext cx="4447540" cy="68072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Subqueries</a:t>
            </a:r>
            <a:endParaRPr lang="en-US" sz="3000" dirty="0"/>
          </a:p>
        </p:txBody>
      </p:sp>
      <p:sp>
        <p:nvSpPr>
          <p:cNvPr id="4" name="Text 2"/>
          <p:cNvSpPr/>
          <p:nvPr/>
        </p:nvSpPr>
        <p:spPr>
          <a:xfrm>
            <a:off x="685165" y="2226310"/>
            <a:ext cx="5393055" cy="539750"/>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Find participants registered for events whose fee is above the average fee.</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685165" y="1106805"/>
            <a:ext cx="10694035" cy="692785"/>
          </a:xfrm>
          <a:prstGeom prst="roundRect">
            <a:avLst>
              <a:gd name="adj" fmla="val 7052"/>
            </a:avLst>
          </a:prstGeom>
          <a:solidFill>
            <a:srgbClr val="FCFCFA"/>
          </a:solidFill>
          <a:ln w="6350">
            <a:solidFill>
              <a:srgbClr val="D5DCD8"/>
            </a:solidFill>
            <a:prstDash val="solid"/>
          </a:ln>
        </p:spPr>
        <p:txBody>
          <a:bodyPr/>
          <a:p>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DEFINITION</a:t>
            </a:r>
            <a:endPar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endParaRPr>
          </a:p>
          <a:p>
            <a:r>
              <a:rPr lang="en-US" altLang="en-GB" sz="1600"/>
              <a:t>A subquery is a query nested inside another SQL query. It helps retrieve data based on the result of another query.</a:t>
            </a:r>
            <a:endParaRPr lang="en-US" altLang="en-GB" sz="1600"/>
          </a:p>
        </p:txBody>
      </p:sp>
      <p:sp>
        <p:nvSpPr>
          <p:cNvPr id="8" name="Text 6"/>
          <p:cNvSpPr/>
          <p:nvPr/>
        </p:nvSpPr>
        <p:spPr>
          <a:xfrm>
            <a:off x="680085" y="2832735"/>
            <a:ext cx="5415915" cy="2184400"/>
          </a:xfrm>
          <a:prstGeom prst="roundRect">
            <a:avLst>
              <a:gd name="adj" fmla="val 4850"/>
            </a:avLst>
          </a:prstGeom>
          <a:solidFill>
            <a:srgbClr val="0B1424"/>
          </a:solidFill>
        </p:spPr>
        <p:txBody>
          <a:bodyPr wrap="square" lIns="191403" tIns="140603" rIns="29859" bIns="115203" rtlCol="0" anchor="t">
            <a:noAutofit/>
          </a:bodyPr>
          <a:lstStyle/>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 DISTINCT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p.participant_name,</a:t>
            </a:r>
            <a:endParaRPr lang="en-US" sz="1600" dirty="0"/>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e.event_name,e.registration_fee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 p</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 r</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p.participant_id = r.participant_id</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e</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r.event_id = e.event_id</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WHERE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e.registration_fee &gt;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AVG</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(registration_fee)</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 </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Events);</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9" name="Text 7"/>
          <p:cNvSpPr/>
          <p:nvPr/>
        </p:nvSpPr>
        <p:spPr>
          <a:xfrm>
            <a:off x="812800" y="5332095"/>
            <a:ext cx="10039350" cy="781050"/>
          </a:xfrm>
          <a:prstGeom prst="roundRect">
            <a:avLst>
              <a:gd name="adj" fmla="val 10178"/>
            </a:avLst>
          </a:prstGeom>
          <a:solidFill>
            <a:srgbClr val="E1EAE6"/>
          </a:solidFill>
        </p:spPr>
        <p:txBody>
          <a:bodyPr wrap="square" lIns="173442" tIns="122642" rIns="10374" bIns="97242" rtlCol="0" anchor="t"/>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The inner query calculates the average event fee (1,175 in the sample data). The outer query lists participants registered for events costing more than that average.</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10"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1" name="Text 9"/>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14 / 19</a:t>
            </a:r>
            <a:endParaRPr lang="en-US" sz="1200" dirty="0"/>
          </a:p>
        </p:txBody>
      </p:sp>
      <p:graphicFrame>
        <p:nvGraphicFramePr>
          <p:cNvPr id="15" name="Table 14"/>
          <p:cNvGraphicFramePr/>
          <p:nvPr>
            <p:custDataLst>
              <p:tags r:id="rId1"/>
            </p:custDataLst>
          </p:nvPr>
        </p:nvGraphicFramePr>
        <p:xfrm>
          <a:off x="6313805" y="2075815"/>
          <a:ext cx="5673725" cy="2941320"/>
        </p:xfrm>
        <a:graphic>
          <a:graphicData uri="http://schemas.openxmlformats.org/drawingml/2006/table">
            <a:tbl>
              <a:tblPr/>
              <a:tblGrid>
                <a:gridCol w="1614805"/>
                <a:gridCol w="2421255"/>
                <a:gridCol w="1637665"/>
              </a:tblGrid>
              <a:tr h="532765">
                <a:tc>
                  <a:txBody>
                    <a:bodyPr/>
                    <a:p>
                      <a:pPr algn="l"/>
                      <a:r>
                        <a:rPr lang="en-US" altLang="zh-CN" sz="1600"/>
                        <a:t>participant_name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c>
                  <a:txBody>
                    <a:bodyPr/>
                    <a:p>
                      <a:pPr algn="l"/>
                      <a:r>
                        <a:rPr lang="en-US" altLang="zh-CN" sz="1600"/>
                        <a:t>event_name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c>
                  <a:txBody>
                    <a:bodyPr/>
                    <a:p>
                      <a:pPr algn="l"/>
                      <a:r>
                        <a:rPr lang="en-US" altLang="zh-CN" sz="1600"/>
                        <a:t>registration_fee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r>
              <a:tr h="252730">
                <a:tc>
                  <a:txBody>
                    <a:bodyPr/>
                    <a:p>
                      <a:pPr algn="l"/>
                      <a:r>
                        <a:rPr lang="en-US" altLang="zh-CN" sz="1600"/>
                        <a:t>Aarav</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AI Summit 2026</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1500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252730">
                <a:tc>
                  <a:txBody>
                    <a:bodyPr/>
                    <a:p>
                      <a:pPr algn="l"/>
                      <a:r>
                        <a:rPr lang="en-US" altLang="zh-CN" sz="1600"/>
                        <a:t>Bhavya</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AI Summit 2026</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1500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252730">
                <a:tc>
                  <a:txBody>
                    <a:bodyPr/>
                    <a:p>
                      <a:pPr algn="l"/>
                      <a:r>
                        <a:rPr lang="en-US" altLang="zh-CN" sz="1600"/>
                        <a:t>Charan</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Cloud Computing Expo</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2000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252730">
                <a:tc>
                  <a:txBody>
                    <a:bodyPr/>
                    <a:p>
                      <a:pPr algn="l"/>
                      <a:r>
                        <a:rPr lang="en-US" altLang="zh-CN" sz="1600"/>
                        <a:t>Divya</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Cloud Computing Expo</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2000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297815">
                <a:tc>
                  <a:txBody>
                    <a:bodyPr/>
                    <a:p>
                      <a:pPr algn="l"/>
                      <a:r>
                        <a:rPr lang="en-US" altLang="zh-CN" sz="1600"/>
                        <a:t>Esha</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Data Science Bootcamp</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1200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296545">
                <a:tc>
                  <a:txBody>
                    <a:bodyPr/>
                    <a:p>
                      <a:pPr algn="l"/>
                      <a:r>
                        <a:rPr lang="en-US" altLang="zh-CN" sz="1600"/>
                        <a:t>Farhan</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Data Science Bootcamp</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1200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297815">
                <a:tc>
                  <a:txBody>
                    <a:bodyPr/>
                    <a:p>
                      <a:pPr algn="l"/>
                      <a:r>
                        <a:rPr lang="en-US" altLang="zh-CN" sz="1600"/>
                        <a:t>Aarav</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Data Science Bootcamp</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1200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r h="505460">
                <a:tc>
                  <a:txBody>
                    <a:bodyPr/>
                    <a:p>
                      <a:pPr algn="l"/>
                      <a:r>
                        <a:rPr lang="en-US" altLang="zh-CN" sz="1600"/>
                        <a:t>Aarav</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Machine Learning Conference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1800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528320" y="2520315"/>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35</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591820" y="624209"/>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Views</a:t>
            </a:r>
            <a:endParaRPr lang="en-US" sz="3000" dirty="0"/>
          </a:p>
        </p:txBody>
      </p:sp>
      <p:sp>
        <p:nvSpPr>
          <p:cNvPr id="4" name="Text 2"/>
          <p:cNvSpPr/>
          <p:nvPr/>
        </p:nvSpPr>
        <p:spPr>
          <a:xfrm>
            <a:off x="477520" y="2759079"/>
            <a:ext cx="4447540" cy="539750"/>
          </a:xfrm>
          <a:prstGeom prst="rect">
            <a:avLst/>
          </a:prstGeom>
          <a:noFill/>
        </p:spPr>
        <p:txBody>
          <a:bodyPr wrap="square" lIns="0" tIns="0" rIns="0" bIns="0" rtlCol="0" anchor="t">
            <a:normAutofit/>
          </a:bodyPr>
          <a:lstStyle/>
          <a:p>
            <a:pPr marL="0" indent="0" algn="l">
              <a:lnSpc>
                <a:spcPts val="2025"/>
              </a:lnSpc>
              <a:buNone/>
            </a:pPr>
            <a:r>
              <a:rPr lang="en-US" sz="1500" dirty="0">
                <a:solidFill>
                  <a:srgbClr val="4A5568"/>
                </a:solidFill>
                <a:latin typeface="Arial" panose="020B0604020202020204" pitchFamily="34" charset="0"/>
                <a:ea typeface="Arial" panose="020B0604020202020204" pitchFamily="34" charset="-122"/>
                <a:cs typeface="Arial" panose="020B0604020202020204" pitchFamily="34" charset="-120"/>
              </a:rPr>
              <a:t>Create a view showing participant and event details.</a:t>
            </a:r>
            <a:endParaRPr lang="en-US" sz="1500" dirty="0"/>
          </a:p>
        </p:txBody>
      </p:sp>
      <p:sp>
        <p:nvSpPr>
          <p:cNvPr id="5" name="Shape 3"/>
          <p:cNvSpPr/>
          <p:nvPr/>
        </p:nvSpPr>
        <p:spPr>
          <a:xfrm>
            <a:off x="528320" y="1179195"/>
            <a:ext cx="10850880" cy="1146175"/>
          </a:xfrm>
          <a:prstGeom prst="roundRect">
            <a:avLst>
              <a:gd name="adj" fmla="val 7052"/>
            </a:avLst>
          </a:prstGeom>
          <a:solidFill>
            <a:srgbClr val="FCFCFA">
              <a:alpha val="57000"/>
            </a:srgbClr>
          </a:solidFill>
          <a:ln w="6350">
            <a:solidFill>
              <a:srgbClr val="D5DCD8"/>
            </a:solidFill>
            <a:prstDash val="solid"/>
            <a:miter lim="800000"/>
          </a:ln>
        </p:spPr>
        <p:txBody>
          <a:bodyPr/>
          <a:p>
            <a:endParaRPr lang="en-GB" altLang="en-US"/>
          </a:p>
        </p:txBody>
      </p:sp>
      <p:sp>
        <p:nvSpPr>
          <p:cNvPr id="6" name="Text 4"/>
          <p:cNvSpPr/>
          <p:nvPr/>
        </p:nvSpPr>
        <p:spPr>
          <a:xfrm>
            <a:off x="692150" y="1306197"/>
            <a:ext cx="4018483" cy="238760"/>
          </a:xfrm>
          <a:prstGeom prst="rect">
            <a:avLst/>
          </a:prstGeom>
          <a:noFill/>
        </p:spPr>
        <p:txBody>
          <a:bodyPr wrap="square" lIns="0" tIns="0" rIns="0" bIns="0" rtlCol="0" anchor="t">
            <a:normAutofit/>
          </a:bodyPr>
          <a:lstStyle/>
          <a:p>
            <a:pPr marL="0" indent="0" algn="l">
              <a:lnSpc>
                <a:spcPts val="1680"/>
              </a:lnSpc>
              <a:buNone/>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rPr>
              <a:t>DEFINITION</a:t>
            </a:r>
            <a:endPar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692150" y="1646555"/>
            <a:ext cx="10417810" cy="772160"/>
          </a:xfrm>
          <a:prstGeom prst="rect">
            <a:avLst/>
          </a:prstGeom>
          <a:noFill/>
        </p:spPr>
        <p:txBody>
          <a:bodyPr wrap="square" lIns="0" tIns="0" rIns="0" bIns="0" rtlCol="0" anchor="t">
            <a:normAutofit/>
          </a:bodyPr>
          <a:lstStyle/>
          <a:p>
            <a:pPr marL="0" indent="0" algn="l">
              <a:lnSpc>
                <a:spcPts val="196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 view is a virtual table created using an SQL query. It simplifies repeated queries and provides a convenient way to access selected data.</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591820" y="3187700"/>
            <a:ext cx="9849485" cy="2919095"/>
          </a:xfrm>
          <a:prstGeom prst="roundRect">
            <a:avLst>
              <a:gd name="adj" fmla="val 3690"/>
            </a:avLst>
          </a:prstGeom>
          <a:solidFill>
            <a:srgbClr val="0B1424"/>
          </a:solidFill>
        </p:spPr>
        <p:txBody>
          <a:bodyPr wrap="square" lIns="191403" tIns="140603" rIns="29859" bIns="115203" rtlCol="0" anchor="t">
            <a:normAutofit/>
          </a:bodyPr>
          <a:lstStyle/>
          <a:p>
            <a:pPr marL="0" indent="0" algn="l">
              <a:lnSpc>
                <a:spcPct val="15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VIEW</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Participant_Event_Details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AS</a:t>
            </a:r>
            <a:endParaRPr lang="en-US" sz="1600" dirty="0"/>
          </a:p>
          <a:p>
            <a:pPr marL="0" indent="0" algn="l">
              <a:lnSpc>
                <a:spcPct val="15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p.participant_name,e.event_name,e.event_date,r.registration_status,</a:t>
            </a:r>
            <a:endParaRPr lang="en-US" sz="1600" dirty="0"/>
          </a:p>
          <a:p>
            <a:pPr marL="0" indent="0" algn="l">
              <a:lnSpc>
                <a:spcPct val="15000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a.attendance_status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Participants p</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ct val="15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 r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p.participant_id = r.participant_id</a:t>
            </a:r>
            <a:endParaRPr lang="en-US" sz="1600" dirty="0"/>
          </a:p>
          <a:p>
            <a:pPr marL="0" indent="0" algn="l">
              <a:lnSpc>
                <a:spcPct val="15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e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r.event_id = e.event_id</a:t>
            </a:r>
            <a:endParaRPr lang="en-US" sz="1600" dirty="0"/>
          </a:p>
          <a:p>
            <a:pPr marL="0" indent="0" algn="l">
              <a:lnSpc>
                <a:spcPct val="15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LEFT 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 a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r.registration_id = a.registration_id;</a:t>
            </a:r>
            <a:endParaRPr lang="en-US" sz="1600" dirty="0"/>
          </a:p>
          <a:p>
            <a:pPr marL="0" indent="0" algn="l">
              <a:lnSpc>
                <a:spcPct val="15000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Participant_Event_Details;</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10"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1" name="Text 9"/>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15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493395" y="836930"/>
          <a:ext cx="10616565" cy="4476750"/>
        </p:xfrm>
        <a:graphic>
          <a:graphicData uri="http://schemas.openxmlformats.org/drawingml/2006/table">
            <a:tbl>
              <a:tblPr/>
              <a:tblGrid>
                <a:gridCol w="1910080"/>
                <a:gridCol w="2616200"/>
                <a:gridCol w="1718945"/>
                <a:gridCol w="2162810"/>
                <a:gridCol w="2208530"/>
              </a:tblGrid>
              <a:tr h="376555">
                <a:tc>
                  <a:txBody>
                    <a:bodyPr/>
                    <a:p>
                      <a:r>
                        <a:rPr lang="en-US" altLang="zh-CN" sz="1400"/>
                        <a:t>participant_name</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alpha val="57000"/>
                      </a:srgbClr>
                    </a:solidFill>
                  </a:tcPr>
                </a:tc>
                <a:tc>
                  <a:txBody>
                    <a:bodyPr/>
                    <a:p>
                      <a:r>
                        <a:rPr lang="en-US" altLang="zh-CN" sz="1400"/>
                        <a:t>event_name</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alpha val="57000"/>
                      </a:srgbClr>
                    </a:solidFill>
                  </a:tcPr>
                </a:tc>
                <a:tc>
                  <a:txBody>
                    <a:bodyPr/>
                    <a:p>
                      <a:r>
                        <a:rPr lang="en-US" altLang="zh-CN" sz="1400"/>
                        <a:t>event_date</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alpha val="57000"/>
                      </a:srgbClr>
                    </a:solidFill>
                  </a:tcPr>
                </a:tc>
                <a:tc>
                  <a:txBody>
                    <a:bodyPr/>
                    <a:p>
                      <a:r>
                        <a:rPr lang="en-US" altLang="zh-CN" sz="1400"/>
                        <a:t>registration_status</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alpha val="57000"/>
                      </a:srgbClr>
                    </a:solidFill>
                  </a:tcPr>
                </a:tc>
                <a:tc>
                  <a:txBody>
                    <a:bodyPr/>
                    <a:p>
                      <a:r>
                        <a:rPr lang="en-US" altLang="zh-CN" sz="1400"/>
                        <a:t>attendance_status</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alpha val="57000"/>
                      </a:srgbClr>
                    </a:solidFill>
                  </a:tcPr>
                </a:tc>
              </a:tr>
              <a:tr h="232410">
                <a:tc>
                  <a:txBody>
                    <a:bodyPr/>
                    <a:p>
                      <a:r>
                        <a:rPr lang="en-US" altLang="zh-CN" sz="1400"/>
                        <a:t>Aarav</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AI Summit 2026</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2026-08-05</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140">
                <a:tc>
                  <a:txBody>
                    <a:bodyPr/>
                    <a:p>
                      <a:r>
                        <a:rPr lang="en-US" altLang="zh-CN" sz="1400"/>
                        <a:t>Bhavya</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AI Summit 2026</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2026-08-05</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775">
                <a:tc>
                  <a:txBody>
                    <a:bodyPr/>
                    <a:p>
                      <a:r>
                        <a:rPr lang="en-US" altLang="zh-CN" sz="1400"/>
                        <a:t>Charan</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Cloud Computing Expo</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2026-08-08</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2410">
                <a:tc>
                  <a:txBody>
                    <a:bodyPr/>
                    <a:p>
                      <a:r>
                        <a:rPr lang="en-US" altLang="zh-CN" sz="1400"/>
                        <a:t>Divya</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Cloud Computing Expo</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2026-08-08</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Cancelled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NULL</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775">
                <a:tc>
                  <a:txBody>
                    <a:bodyPr/>
                    <a:p>
                      <a:r>
                        <a:rPr lang="en-US" altLang="zh-CN" sz="1400"/>
                        <a:t>Esha</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Data Science Bootcamp</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2026-08-12</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Absent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140">
                <a:tc>
                  <a:txBody>
                    <a:bodyPr/>
                    <a:p>
                      <a:r>
                        <a:rPr lang="en-US" altLang="zh-CN" sz="1400"/>
                        <a:t>Farhan</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Data Science Bootcamp</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2026-08-12</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775">
                <a:tc>
                  <a:txBody>
                    <a:bodyPr/>
                    <a:p>
                      <a:r>
                        <a:rPr lang="en-US" altLang="zh-CN" sz="1400"/>
                        <a:t>Gopi</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Cyber Security Meet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2026-08-15</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3045">
                <a:tc>
                  <a:txBody>
                    <a:bodyPr/>
                    <a:p>
                      <a:r>
                        <a:rPr lang="en-US" altLang="zh-CN" sz="1400"/>
                        <a:t>Harini</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Cyber Security Meet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2026-08-15</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Absent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312420">
                <a:tc>
                  <a:txBody>
                    <a:bodyPr/>
                    <a:p>
                      <a:r>
                        <a:rPr lang="en-US" altLang="zh-CN" sz="1400"/>
                        <a:t>Ishaan</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Web Development Hackathon</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2026-08-18</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303530">
                <a:tc>
                  <a:txBody>
                    <a:bodyPr/>
                    <a:p>
                      <a:r>
                        <a:rPr lang="en-US" altLang="zh-CN" sz="1400"/>
                        <a:t>Kavya</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Machine Learning Conference</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2026-08-20</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324485">
                <a:tc>
                  <a:txBody>
                    <a:bodyPr/>
                    <a:p>
                      <a:r>
                        <a:rPr lang="en-US" altLang="zh-CN" sz="1400"/>
                        <a:t>Aarav</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Machine Learning Conference</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2026-08-20</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2410">
                <a:tc>
                  <a:txBody>
                    <a:bodyPr/>
                    <a:p>
                      <a:r>
                        <a:rPr lang="en-US" altLang="zh-CN" sz="1400"/>
                        <a:t>Manoj</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DevOps Hands-on Lab</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2026-08-23</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775">
                <a:tc>
                  <a:txBody>
                    <a:bodyPr/>
                    <a:p>
                      <a:r>
                        <a:rPr lang="en-US" altLang="zh-CN" sz="1400"/>
                        <a:t>Nandini</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DevOps Hands-on Lab</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2026-08-23</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Cancelled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NULL</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1140">
                <a:tc>
                  <a:txBody>
                    <a:bodyPr/>
                    <a:p>
                      <a:r>
                        <a:rPr lang="en-US" altLang="zh-CN" sz="1400"/>
                        <a:t>Charan</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Tech Career Connect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2026-08-25</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Absent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232410">
                <a:tc>
                  <a:txBody>
                    <a:bodyPr/>
                    <a:p>
                      <a:r>
                        <a:rPr lang="en-US" altLang="zh-CN" sz="1400"/>
                        <a:t>Aarav</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Data Science Bootcamp</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2026-08-12</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376555">
                <a:tc>
                  <a:txBody>
                    <a:bodyPr/>
                    <a:p>
                      <a:r>
                        <a:rPr lang="en-US" altLang="zh-CN" sz="1400"/>
                        <a:t>Esha</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Web Development Hackathon</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2026-08-18</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Confirmed</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400"/>
                        <a:t>Present</a:t>
                      </a:r>
                      <a:endParaRPr lang="en-US" altLang="zh-CN" sz="14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bl>
          </a:graphicData>
        </a:graphic>
      </p:graphicFrame>
      <p:sp>
        <p:nvSpPr>
          <p:cNvPr id="9" name="Text Box 8"/>
          <p:cNvSpPr txBox="1"/>
          <p:nvPr/>
        </p:nvSpPr>
        <p:spPr>
          <a:xfrm>
            <a:off x="493395" y="299085"/>
            <a:ext cx="2971165" cy="368300"/>
          </a:xfrm>
          <a:prstGeom prst="rect">
            <a:avLst/>
          </a:prstGeom>
          <a:noFill/>
        </p:spPr>
        <p:txBody>
          <a:bodyPr wrap="square" rtlCol="0">
            <a:spAutoFit/>
          </a:bodyPr>
          <a:p>
            <a:r>
              <a:rPr lang="en-US"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OUTPUT</a:t>
            </a:r>
            <a:endParaRPr lang="en-GB" altLang="en-US"/>
          </a:p>
        </p:txBody>
      </p:sp>
      <p:sp>
        <p:nvSpPr>
          <p:cNvPr id="13" name="Text Box 12"/>
          <p:cNvSpPr txBox="1"/>
          <p:nvPr/>
        </p:nvSpPr>
        <p:spPr>
          <a:xfrm>
            <a:off x="561340" y="5610225"/>
            <a:ext cx="10843895" cy="824865"/>
          </a:xfrm>
          <a:prstGeom prst="rect">
            <a:avLst/>
          </a:prstGeom>
          <a:solidFill>
            <a:srgbClr val="CFE0DA"/>
          </a:solidFill>
        </p:spPr>
        <p:txBody>
          <a:bodyPr wrap="square" rtlCol="0">
            <a:noAutofit/>
          </a:bodyPr>
          <a:p>
            <a:r>
              <a:rPr lang="en-US" b="1"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Explanation: </a:t>
            </a:r>
            <a:r>
              <a:rPr lang="en-US" altLang="en-GB"/>
              <a:t>The view combines participant, event, registrations, and attendance information into one reusable result.</a:t>
            </a:r>
            <a:endParaRPr lang="en-US" alt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680085" y="2316480"/>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37</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680085" y="609604"/>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Transactions</a:t>
            </a:r>
            <a:endParaRPr lang="en-US" sz="3000" dirty="0"/>
          </a:p>
        </p:txBody>
      </p:sp>
      <p:sp>
        <p:nvSpPr>
          <p:cNvPr id="4" name="Text 2"/>
          <p:cNvSpPr/>
          <p:nvPr/>
        </p:nvSpPr>
        <p:spPr>
          <a:xfrm>
            <a:off x="680085" y="2575560"/>
            <a:ext cx="6654165" cy="423545"/>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Update an event fee using a transaction and a savepoint.</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680085" y="1062355"/>
            <a:ext cx="10747375" cy="1114425"/>
          </a:xfrm>
          <a:prstGeom prst="roundRect">
            <a:avLst>
              <a:gd name="adj" fmla="val 5985"/>
            </a:avLst>
          </a:prstGeom>
          <a:solidFill>
            <a:srgbClr val="FCFCFA"/>
          </a:solidFill>
          <a:ln w="6350">
            <a:solidFill>
              <a:srgbClr val="D5DCD8"/>
            </a:solidFill>
            <a:prstDash val="solid"/>
          </a:ln>
        </p:spPr>
      </p:sp>
      <p:sp>
        <p:nvSpPr>
          <p:cNvPr id="6" name="Text 4"/>
          <p:cNvSpPr/>
          <p:nvPr/>
        </p:nvSpPr>
        <p:spPr>
          <a:xfrm>
            <a:off x="812800" y="1177927"/>
            <a:ext cx="4018483" cy="238760"/>
          </a:xfrm>
          <a:prstGeom prst="rect">
            <a:avLst/>
          </a:prstGeom>
          <a:noFill/>
        </p:spPr>
        <p:txBody>
          <a:bodyPr wrap="square" lIns="0" tIns="0" rIns="0" bIns="0" rtlCol="0" anchor="t">
            <a:noAutofit/>
          </a:bodyPr>
          <a:lstStyle/>
          <a:p>
            <a:pPr marL="0" indent="0" algn="l">
              <a:lnSpc>
                <a:spcPts val="1680"/>
              </a:lnSpc>
              <a:buNone/>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rPr>
              <a:t>DEFINITION</a:t>
            </a:r>
            <a:endPar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812800" y="1416685"/>
            <a:ext cx="10044430" cy="607695"/>
          </a:xfrm>
          <a:prstGeom prst="rect">
            <a:avLst/>
          </a:prstGeom>
          <a:noFill/>
        </p:spPr>
        <p:txBody>
          <a:bodyPr wrap="square" lIns="0" tIns="0" rIns="0" bIns="0" rtlCol="0" anchor="t">
            <a:normAutofit/>
          </a:bodyPr>
          <a:lstStyle/>
          <a:p>
            <a:pPr marL="0" indent="0" algn="l">
              <a:lnSpc>
                <a:spcPts val="196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 transaction is a group of SQL operations treated as one unit. It uses commands such as COMMIT, ROLLBACK, and SAVEPOINT to control changes.</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680085" y="2922270"/>
            <a:ext cx="9671685" cy="2922905"/>
          </a:xfrm>
          <a:prstGeom prst="roundRect">
            <a:avLst>
              <a:gd name="adj" fmla="val 3925"/>
            </a:avLst>
          </a:prstGeom>
          <a:solidFill>
            <a:srgbClr val="0B1424"/>
          </a:solidFill>
        </p:spPr>
        <p:txBody>
          <a:bodyPr wrap="square" lIns="191403" tIns="140603" rIns="29859" bIns="115203" rtlCol="0" anchor="t">
            <a:noAutofit/>
          </a:bodyPr>
          <a:lstStyle/>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START TRANSACTION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UPDATE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registration_fee = registration_fee + 200</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WHERE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event_id = 101;</a:t>
            </a:r>
            <a:endParaRPr lang="en-US" sz="1600" dirty="0"/>
          </a:p>
          <a:p>
            <a:pPr marL="0" indent="0" algn="l">
              <a:lnSpc>
                <a:spcPts val="1620"/>
              </a:lnSpc>
              <a:buNone/>
            </a:pP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SAVEPOINT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fee_updated;</a:t>
            </a:r>
            <a:endParaRPr lang="en-US" sz="1600" dirty="0"/>
          </a:p>
          <a:p>
            <a:pPr marL="0" indent="0" algn="l">
              <a:lnSpc>
                <a:spcPts val="1620"/>
              </a:lnSpc>
              <a:buNone/>
            </a:pP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UPDATE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registration_status = </a:t>
            </a:r>
            <a:r>
              <a:rPr lang="en-US" sz="1600" dirty="0">
                <a:solidFill>
                  <a:srgbClr val="8FE3A5"/>
                </a:solidFill>
                <a:latin typeface="Courier New" panose="02070309020205020404" pitchFamily="49" charset="0"/>
                <a:ea typeface="Courier New" panose="02070309020205020404" pitchFamily="49" charset="-122"/>
                <a:cs typeface="Courier New" panose="02070309020205020404" pitchFamily="49" charset="-120"/>
              </a:rPr>
              <a:t>'Cancelled'</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WHERE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registration_id = 301;</a:t>
            </a:r>
            <a:endParaRPr lang="en-US" sz="1600" dirty="0"/>
          </a:p>
          <a:p>
            <a:pPr marL="0" indent="0" algn="l">
              <a:lnSpc>
                <a:spcPts val="1620"/>
              </a:lnSpc>
              <a:buNone/>
            </a:pP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ROLLBACK TO SAVEPOINT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fee_updated;</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COMMIT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12" name="Text 10"/>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3" name="Text 11"/>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16 / 19</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Shape 7"/>
          <p:cNvSpPr/>
          <p:nvPr/>
        </p:nvSpPr>
        <p:spPr>
          <a:xfrm>
            <a:off x="727075" y="3121025"/>
            <a:ext cx="8059420" cy="1557655"/>
          </a:xfrm>
          <a:prstGeom prst="roundRect">
            <a:avLst>
              <a:gd name="adj" fmla="val 6689"/>
            </a:avLst>
          </a:prstGeom>
          <a:solidFill>
            <a:srgbClr val="E1EAE6"/>
          </a:solidFill>
        </p:spPr>
        <p:txBody>
          <a:bodyPr/>
          <a:p>
            <a:pPr indent="0" algn="l">
              <a:lnSpc>
                <a:spcPts val="1820"/>
              </a:lnSpc>
              <a:buSzPct val="100000"/>
              <a:buNone/>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EXPLANATION:</a:t>
            </a:r>
            <a:endParaRPr lang="en-US" b="1" dirty="0">
              <a:solidFill>
                <a:srgbClr val="14213D"/>
              </a:solidFill>
              <a:latin typeface="Arial" panose="020B0604020202020204" pitchFamily="34" charset="0"/>
              <a:ea typeface="Arial" panose="020B0604020202020204" pitchFamily="34" charset="-122"/>
              <a:cs typeface="Arial" panose="020B0604020202020204" pitchFamily="34" charset="-120"/>
              <a:sym typeface="+mn-ea"/>
            </a:endParaRPr>
          </a:p>
          <a:p>
            <a:pPr marL="156210" indent="-156210" algn="l">
              <a:lnSpc>
                <a:spcPts val="1820"/>
              </a:lnSpc>
              <a:buSzPct val="100000"/>
              <a:buChar char="•"/>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START TRANSACTION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 begins the transaction.</a:t>
            </a:r>
            <a:endParaRPr lang="en-US" sz="1600" dirty="0"/>
          </a:p>
          <a:p>
            <a:pPr marL="156210" indent="-156210" algn="l">
              <a:lnSpc>
                <a:spcPts val="1820"/>
              </a:lnSpc>
              <a:buSzPct val="100000"/>
              <a:buChar char="•"/>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SAVEPOINT</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 marks a point to return to.</a:t>
            </a:r>
            <a:endParaRPr lang="en-US" sz="1600" dirty="0"/>
          </a:p>
          <a:p>
            <a:pPr marL="156210" indent="-156210" algn="l">
              <a:lnSpc>
                <a:spcPts val="1820"/>
              </a:lnSpc>
              <a:buSzPct val="100000"/>
              <a:buChar char="•"/>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ROLLBACK TO SAVEPOINT</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 undoes the registration update.</a:t>
            </a:r>
            <a:endParaRPr lang="en-US" sz="1600" dirty="0"/>
          </a:p>
          <a:p>
            <a:pPr marL="156210" indent="-156210" algn="l">
              <a:lnSpc>
                <a:spcPts val="1820"/>
              </a:lnSpc>
              <a:buSzPct val="100000"/>
              <a:buChar char="•"/>
            </a:pPr>
            <a:r>
              <a:rPr lang="en-US" sz="1600" b="1"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COMMIT</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sym typeface="+mn-ea"/>
              </a:rPr>
              <a:t> saves the event fee update.</a:t>
            </a:r>
            <a:endParaRPr lang="en-US" altLang="en-US" sz="1600" dirty="0">
              <a:solidFill>
                <a:srgbClr val="14213D"/>
              </a:solidFill>
              <a:latin typeface="Arial" panose="020B0604020202020204" pitchFamily="34" charset="0"/>
              <a:ea typeface="Arial" panose="020B0604020202020204" pitchFamily="34" charset="-122"/>
              <a:cs typeface="Arial" panose="020B0604020202020204" pitchFamily="34" charset="-120"/>
              <a:sym typeface="+mn-ea"/>
            </a:endParaRPr>
          </a:p>
        </p:txBody>
      </p:sp>
      <p:sp>
        <p:nvSpPr>
          <p:cNvPr id="6" name="Text Box 5"/>
          <p:cNvSpPr txBox="1"/>
          <p:nvPr/>
        </p:nvSpPr>
        <p:spPr>
          <a:xfrm>
            <a:off x="699770" y="579120"/>
            <a:ext cx="3597275" cy="612775"/>
          </a:xfrm>
          <a:prstGeom prst="rect">
            <a:avLst/>
          </a:prstGeom>
          <a:noFill/>
        </p:spPr>
        <p:txBody>
          <a:bodyPr wrap="square" rtlCol="0">
            <a:noAutofit/>
          </a:bodyPr>
          <a:p>
            <a:r>
              <a:rPr sz="2000" b="1" kern="0" spc="100">
                <a:solidFill>
                  <a:srgbClr val="0B6A63"/>
                </a:solidFill>
                <a:sym typeface="+mn-ea"/>
              </a:rPr>
              <a:t>OUTPUT</a:t>
            </a:r>
            <a:endParaRPr lang="en-GB" altLang="en-US" sz="2000" b="1" kern="0" spc="100">
              <a:solidFill>
                <a:srgbClr val="0B6A63"/>
              </a:solidFill>
              <a:sym typeface="+mn-ea"/>
            </a:endParaRPr>
          </a:p>
          <a:p>
            <a:endParaRPr lang="en-GB" altLang="en-US" sz="2000" b="1" kern="0" spc="100">
              <a:solidFill>
                <a:srgbClr val="0B6A63"/>
              </a:solidFill>
              <a:sym typeface="+mn-ea"/>
            </a:endParaRPr>
          </a:p>
        </p:txBody>
      </p:sp>
      <p:graphicFrame>
        <p:nvGraphicFramePr>
          <p:cNvPr id="7" name="Table 6"/>
          <p:cNvGraphicFramePr/>
          <p:nvPr>
            <p:custDataLst>
              <p:tags r:id="rId1"/>
            </p:custDataLst>
          </p:nvPr>
        </p:nvGraphicFramePr>
        <p:xfrm>
          <a:off x="727075" y="1437640"/>
          <a:ext cx="10134600" cy="1350010"/>
        </p:xfrm>
        <a:graphic>
          <a:graphicData uri="http://schemas.openxmlformats.org/drawingml/2006/table">
            <a:tbl>
              <a:tblPr/>
              <a:tblGrid>
                <a:gridCol w="5104130"/>
                <a:gridCol w="5030470"/>
              </a:tblGrid>
              <a:tr h="393700">
                <a:tc>
                  <a:txBody>
                    <a:bodyPr/>
                    <a:p>
                      <a:r>
                        <a:rPr lang="en-US" altLang="zh-CN" sz="1600"/>
                        <a:t>Check after COMMIT</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c>
                  <a:txBody>
                    <a:bodyPr/>
                    <a:p>
                      <a:r>
                        <a:rPr lang="en-US" altLang="zh-CN" sz="1600"/>
                        <a:t>Final value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r>
              <a:tr h="562610">
                <a:tc>
                  <a:txBody>
                    <a:bodyPr/>
                    <a:p>
                      <a:r>
                        <a:rPr lang="en-US" altLang="zh-CN" sz="1600"/>
                        <a:t>AI Summit 2026 registration_fee (event_id = 101)</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600"/>
                        <a:t>1700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393700">
                <a:tc>
                  <a:txBody>
                    <a:bodyPr/>
                    <a:p>
                      <a:r>
                        <a:rPr lang="en-US" altLang="zh-CN" sz="1600"/>
                        <a:t>Registration 301 status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r>
                        <a:rPr lang="en-US" altLang="zh-CN" sz="1600"/>
                        <a:t>Confirmed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5975" y="2252980"/>
            <a:ext cx="4447540" cy="238760"/>
          </a:xfrm>
          <a:prstGeom prst="rect">
            <a:avLst/>
          </a:prstGeom>
          <a:noFill/>
        </p:spPr>
        <p:txBody>
          <a:bodyPr wrap="square" lIns="0" tIns="0" rIns="0" bIns="0" rtlCol="0" anchor="t">
            <a:normAutofit/>
          </a:bodyPr>
          <a:lstStyle/>
          <a:p>
            <a:pPr marL="0" indent="0" algn="l">
              <a:lnSpc>
                <a:spcPts val="1680"/>
              </a:lnSpc>
              <a:buNone/>
            </a:pPr>
            <a:r>
              <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38</a:t>
            </a:r>
            <a:endParaRPr lang="en-US" sz="16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812800" y="528318"/>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Stored Procedures</a:t>
            </a:r>
            <a:endParaRPr lang="en-US" sz="3000" dirty="0"/>
          </a:p>
        </p:txBody>
      </p:sp>
      <p:sp>
        <p:nvSpPr>
          <p:cNvPr id="4" name="Text 2"/>
          <p:cNvSpPr/>
          <p:nvPr/>
        </p:nvSpPr>
        <p:spPr>
          <a:xfrm>
            <a:off x="770255" y="2543175"/>
            <a:ext cx="7853680" cy="440690"/>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Create a procedure to display registrations for a participant.</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815975" y="972820"/>
            <a:ext cx="10555605" cy="1149350"/>
          </a:xfrm>
          <a:prstGeom prst="roundRect">
            <a:avLst>
              <a:gd name="adj" fmla="val 7052"/>
            </a:avLst>
          </a:prstGeom>
          <a:solidFill>
            <a:srgbClr val="FCFCFA"/>
          </a:solidFill>
          <a:ln w="6350">
            <a:solidFill>
              <a:srgbClr val="D5DCD8"/>
            </a:solidFill>
            <a:prstDash val="solid"/>
          </a:ln>
        </p:spPr>
      </p:sp>
      <p:sp>
        <p:nvSpPr>
          <p:cNvPr id="6" name="Text 4"/>
          <p:cNvSpPr/>
          <p:nvPr/>
        </p:nvSpPr>
        <p:spPr>
          <a:xfrm>
            <a:off x="894715" y="1273175"/>
            <a:ext cx="4018280" cy="281305"/>
          </a:xfrm>
          <a:prstGeom prst="rect">
            <a:avLst/>
          </a:prstGeom>
          <a:noFill/>
        </p:spPr>
        <p:txBody>
          <a:bodyPr wrap="square" lIns="0" tIns="0" rIns="0" bIns="0" rtlCol="0" anchor="t"/>
          <a:lstStyle/>
          <a:p>
            <a:pPr marL="0" indent="0" algn="l">
              <a:lnSpc>
                <a:spcPts val="1680"/>
              </a:lnSpc>
              <a:buNone/>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rPr>
              <a:t>DEFINITION</a:t>
            </a:r>
            <a:endPar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894715" y="1566545"/>
            <a:ext cx="10150475" cy="464820"/>
          </a:xfrm>
          <a:prstGeom prst="rect">
            <a:avLst/>
          </a:prstGeom>
          <a:noFill/>
        </p:spPr>
        <p:txBody>
          <a:bodyPr wrap="square" lIns="0" tIns="0" rIns="0" bIns="0" rtlCol="0" anchor="t">
            <a:noAutofit/>
          </a:bodyPr>
          <a:lstStyle/>
          <a:p>
            <a:pPr marL="0" indent="0" algn="l">
              <a:lnSpc>
                <a:spcPts val="196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 stored procedure is a named collection of SQL statements saved in the database and executed whenever required.</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8" name="Text 6"/>
          <p:cNvSpPr/>
          <p:nvPr/>
        </p:nvSpPr>
        <p:spPr>
          <a:xfrm>
            <a:off x="812800" y="2898775"/>
            <a:ext cx="9235440" cy="3230245"/>
          </a:xfrm>
          <a:prstGeom prst="roundRect">
            <a:avLst>
              <a:gd name="adj" fmla="val 3296"/>
            </a:avLst>
          </a:prstGeom>
          <a:solidFill>
            <a:schemeClr val="accent4"/>
          </a:solidFill>
        </p:spPr>
        <p:txBody>
          <a:bodyPr wrap="square" lIns="191403" tIns="140603" rIns="29859" bIns="115203" rtlCol="0" anchor="t">
            <a:noAutofit/>
          </a:bodyPr>
          <a:lstStyle/>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DELIMITER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a:t>
            </a:r>
            <a:r>
              <a:rPr lang="en-US" sz="1600" dirty="0">
                <a:solidFill>
                  <a:srgbClr val="6CB2CE"/>
                </a:solidFill>
                <a:latin typeface="Courier New" panose="02070309020205020404" pitchFamily="49" charset="0"/>
                <a:ea typeface="Courier New" panose="02070309020205020404" pitchFamily="49" charset="-122"/>
                <a:cs typeface="Courier New" panose="02070309020205020404" pitchFamily="49" charset="-120"/>
              </a:rPr>
              <a:t>PROCEDURE </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GetParticipantRegistrations(</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p_participant_id </a:t>
            </a:r>
            <a:r>
              <a:rPr lang="en-US" sz="16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INT </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BEGIN</a:t>
            </a:r>
            <a:endPar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SELECT</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r.registration_id,e.event_name,e.event_date,</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r.registration_date,r.registration_status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FROM</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Registrations r</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JOIN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Events e </a:t>
            </a: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ON</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r.event_id = e.event_id</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WHERE</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r.participant_id = p_participant_id;</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l">
              <a:lnSpc>
                <a:spcPts val="1620"/>
              </a:lnSpc>
              <a:buNone/>
            </a:pP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END</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DELIMITER</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600" dirty="0"/>
          </a:p>
          <a:p>
            <a:pPr marL="0" indent="0" algn="l">
              <a:lnSpc>
                <a:spcPts val="1620"/>
              </a:lnSpc>
              <a:buNone/>
            </a:pPr>
            <a:endParaRPr lang="en-US" sz="1600" dirty="0"/>
          </a:p>
          <a:p>
            <a:pPr marL="0" indent="0" algn="l">
              <a:lnSpc>
                <a:spcPts val="1620"/>
              </a:lnSpc>
              <a:buNone/>
            </a:pPr>
            <a:r>
              <a:rPr lang="en-US" sz="16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CALL</a:t>
            </a:r>
            <a:r>
              <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GetParticipantRegistrations(201);</a:t>
            </a:r>
            <a:endParaRPr lang="en-US" sz="16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10"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Event Management System · SQL</a:t>
            </a:r>
            <a:endParaRPr lang="en-US" sz="1200" dirty="0"/>
          </a:p>
        </p:txBody>
      </p:sp>
      <p:sp>
        <p:nvSpPr>
          <p:cNvPr id="11" name="Text 9"/>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17 / 19</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 7"/>
          <p:cNvSpPr/>
          <p:nvPr/>
        </p:nvSpPr>
        <p:spPr>
          <a:xfrm>
            <a:off x="1176655" y="5043170"/>
            <a:ext cx="9131935" cy="767080"/>
          </a:xfrm>
          <a:prstGeom prst="roundRect">
            <a:avLst>
              <a:gd name="adj" fmla="val 13245"/>
            </a:avLst>
          </a:prstGeom>
          <a:solidFill>
            <a:srgbClr val="E1EAE6"/>
          </a:solidFill>
        </p:spPr>
        <p:txBody>
          <a:bodyPr wrap="square" lIns="173442" tIns="122642" rIns="10374" bIns="97242" rtlCol="0" anchor="t">
            <a:normAutofit/>
          </a:bodyPr>
          <a:lstStyle/>
          <a:p>
            <a:pPr marL="0" indent="0" algn="l">
              <a:lnSpc>
                <a:spcPts val="1820"/>
              </a:lnSpc>
              <a:buNone/>
            </a:pPr>
            <a:r>
              <a:rPr lang="en-US" sz="13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300" dirty="0">
                <a:solidFill>
                  <a:srgbClr val="14213D"/>
                </a:solidFill>
                <a:latin typeface="Arial" panose="020B0604020202020204" pitchFamily="34" charset="0"/>
                <a:ea typeface="Arial" panose="020B0604020202020204" pitchFamily="34" charset="-122"/>
                <a:cs typeface="Arial" panose="020B0604020202020204" pitchFamily="34" charset="-120"/>
              </a:rPr>
              <a:t> The procedure accepts a participant ID and displays all registrations made by that participant.</a:t>
            </a:r>
            <a:endParaRPr lang="en-US" sz="1300" dirty="0"/>
          </a:p>
        </p:txBody>
      </p:sp>
      <p:graphicFrame>
        <p:nvGraphicFramePr>
          <p:cNvPr id="4" name="Table 3"/>
          <p:cNvGraphicFramePr/>
          <p:nvPr>
            <p:custDataLst>
              <p:tags r:id="rId1"/>
            </p:custDataLst>
          </p:nvPr>
        </p:nvGraphicFramePr>
        <p:xfrm>
          <a:off x="1176655" y="1379220"/>
          <a:ext cx="9615170" cy="3253740"/>
        </p:xfrm>
        <a:graphic>
          <a:graphicData uri="http://schemas.openxmlformats.org/drawingml/2006/table">
            <a:tbl>
              <a:tblPr/>
              <a:tblGrid>
                <a:gridCol w="1853565"/>
                <a:gridCol w="1853565"/>
                <a:gridCol w="1853565"/>
                <a:gridCol w="1965960"/>
                <a:gridCol w="2088515"/>
              </a:tblGrid>
              <a:tr h="813435">
                <a:tc>
                  <a:txBody>
                    <a:bodyPr/>
                    <a:p>
                      <a:pPr algn="l"/>
                      <a:r>
                        <a:rPr lang="en-US" altLang="zh-CN" sz="1600"/>
                        <a:t>registration_id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c>
                  <a:txBody>
                    <a:bodyPr/>
                    <a:p>
                      <a:pPr algn="l"/>
                      <a:r>
                        <a:rPr lang="en-US" altLang="zh-CN" sz="1600"/>
                        <a:t>event_name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c>
                  <a:txBody>
                    <a:bodyPr/>
                    <a:p>
                      <a:pPr algn="l"/>
                      <a:r>
                        <a:rPr lang="en-US" altLang="zh-CN" sz="1600"/>
                        <a:t>event_date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c>
                  <a:txBody>
                    <a:bodyPr/>
                    <a:p>
                      <a:pPr algn="l"/>
                      <a:r>
                        <a:rPr lang="en-US" altLang="zh-CN" sz="1600"/>
                        <a:t>registration_date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c>
                  <a:txBody>
                    <a:bodyPr/>
                    <a:p>
                      <a:pPr algn="l"/>
                      <a:r>
                        <a:rPr lang="en-US" altLang="zh-CN" sz="1600"/>
                        <a:t>registration_status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solidFill>
                      <a:srgbClr val="CFE0DA"/>
                    </a:solidFill>
                  </a:tcPr>
                </a:tc>
              </a:tr>
              <a:tr h="813435">
                <a:tc>
                  <a:txBody>
                    <a:bodyPr/>
                    <a:p>
                      <a:pPr algn="l"/>
                      <a:r>
                        <a:rPr lang="en-US" altLang="zh-CN" sz="1600"/>
                        <a:t>301</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AI Summit 2026</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2026-08-05</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2026-07-20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Confirmed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813435">
                <a:tc>
                  <a:txBody>
                    <a:bodyPr/>
                    <a:p>
                      <a:pPr algn="l"/>
                      <a:r>
                        <a:rPr lang="en-US" altLang="zh-CN" sz="1600"/>
                        <a:t>311</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Machine Learning Conference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2026-08-20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2026-07-30</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Confirmed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r h="813435">
                <a:tc>
                  <a:txBody>
                    <a:bodyPr/>
                    <a:p>
                      <a:pPr algn="l"/>
                      <a:r>
                        <a:rPr lang="en-US" altLang="zh-CN" sz="1600"/>
                        <a:t>315</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Data Science Bootcamp</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2026-08-12</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2026-08-03</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c>
                  <a:txBody>
                    <a:bodyPr/>
                    <a:p>
                      <a:pPr algn="l"/>
                      <a:r>
                        <a:rPr lang="en-US" altLang="zh-CN" sz="1600"/>
                        <a:t>Confirmed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noFill/>
                  </a:tcPr>
                </a:tc>
              </a:tr>
            </a:tbl>
          </a:graphicData>
        </a:graphic>
      </p:graphicFrame>
      <p:sp>
        <p:nvSpPr>
          <p:cNvPr id="5" name="Text Box 4"/>
          <p:cNvSpPr txBox="1"/>
          <p:nvPr/>
        </p:nvSpPr>
        <p:spPr>
          <a:xfrm>
            <a:off x="1176655" y="600710"/>
            <a:ext cx="2738120" cy="368300"/>
          </a:xfrm>
          <a:prstGeom prst="rect">
            <a:avLst/>
          </a:prstGeom>
          <a:noFill/>
        </p:spPr>
        <p:txBody>
          <a:bodyPr wrap="square" rtlCol="0">
            <a:spAutoFit/>
          </a:bodyPr>
          <a:p>
            <a:r>
              <a:rPr lang="en-US" b="1" dirty="0">
                <a:solidFill>
                  <a:srgbClr val="0B6A63"/>
                </a:solidFill>
                <a:latin typeface="Arial" panose="020B0604020202020204" pitchFamily="34" charset="0"/>
                <a:ea typeface="Arial" panose="020B0604020202020204" pitchFamily="34" charset="-122"/>
                <a:cs typeface="Arial" panose="020B0604020202020204" pitchFamily="34" charset="-120"/>
                <a:sym typeface="+mn-ea"/>
              </a:rPr>
              <a:t>OUTPUT</a:t>
            </a:r>
            <a:endParaRPr lang="en-GB"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 name="Text 0"/>
          <p:cNvSpPr/>
          <p:nvPr/>
        </p:nvSpPr>
        <p:spPr>
          <a:xfrm>
            <a:off x="812800" y="2214880"/>
            <a:ext cx="4447540" cy="238760"/>
          </a:xfrm>
          <a:prstGeom prst="rect">
            <a:avLst/>
          </a:prstGeom>
          <a:noFill/>
        </p:spPr>
        <p:txBody>
          <a:bodyPr wrap="square" lIns="0" tIns="0" rIns="0" bIns="0" rtlCol="0" anchor="t">
            <a:normAutofit/>
          </a:bodyPr>
          <a:lstStyle/>
          <a:p>
            <a:pPr marL="0" indent="0" algn="l">
              <a:lnSpc>
                <a:spcPts val="1680"/>
              </a:lnSpc>
              <a:buNone/>
            </a:pPr>
            <a:r>
              <a:rPr lang="en-US" sz="1400" b="1" kern="0" spc="150" dirty="0">
                <a:solidFill>
                  <a:srgbClr val="0B6A63"/>
                </a:solidFill>
                <a:latin typeface="Arial" panose="020B0604020202020204" pitchFamily="34" charset="0"/>
                <a:ea typeface="Arial" panose="020B0604020202020204" pitchFamily="34" charset="-122"/>
                <a:cs typeface="Arial" panose="020B0604020202020204" pitchFamily="34" charset="-120"/>
              </a:rPr>
              <a:t>QUESTION 41</a:t>
            </a:r>
            <a:endParaRPr lang="en-US" sz="1400" b="1" kern="0" spc="15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3" name="Text 1"/>
          <p:cNvSpPr/>
          <p:nvPr>
            <p:ph type="title"/>
          </p:nvPr>
        </p:nvSpPr>
        <p:spPr>
          <a:xfrm>
            <a:off x="812800" y="426083"/>
            <a:ext cx="4447540" cy="444500"/>
          </a:xfrm>
          <a:prstGeom prst="rect">
            <a:avLst/>
          </a:prstGeom>
          <a:noFill/>
        </p:spPr>
        <p:txBody>
          <a:bodyPr wrap="square" lIns="0" tIns="0" rIns="0" bIns="0" rtlCol="0" anchor="t">
            <a:normAutofit/>
          </a:bodyPr>
          <a:lstStyle/>
          <a:p>
            <a:pPr marL="0" indent="0" algn="l">
              <a:lnSpc>
                <a:spcPts val="3300"/>
              </a:lnSpc>
              <a:buNone/>
            </a:pPr>
            <a:r>
              <a:rPr lang="en-US" sz="3000" b="1" i="0" dirty="0">
                <a:solidFill>
                  <a:srgbClr val="14213D"/>
                </a:solidFill>
                <a:latin typeface="Arial" panose="020B0604020202020204" pitchFamily="34" charset="0"/>
                <a:ea typeface="Arial" panose="020B0604020202020204" pitchFamily="34" charset="-122"/>
                <a:cs typeface="Arial" panose="020B0604020202020204" pitchFamily="34" charset="-120"/>
              </a:rPr>
              <a:t>Triggers</a:t>
            </a:r>
            <a:endParaRPr lang="en-US" sz="3000" dirty="0"/>
          </a:p>
        </p:txBody>
      </p:sp>
      <p:sp>
        <p:nvSpPr>
          <p:cNvPr id="4" name="Text 2"/>
          <p:cNvSpPr/>
          <p:nvPr/>
        </p:nvSpPr>
        <p:spPr>
          <a:xfrm>
            <a:off x="812800" y="2480308"/>
            <a:ext cx="4724400" cy="282575"/>
          </a:xfrm>
          <a:prstGeom prst="rect">
            <a:avLst/>
          </a:prstGeom>
          <a:noFill/>
        </p:spPr>
        <p:txBody>
          <a:bodyPr wrap="square" lIns="0" tIns="0" rIns="0" bIns="0" rtlCol="0" anchor="t">
            <a:normAutofit/>
          </a:bodyPr>
          <a:lstStyle/>
          <a:p>
            <a:pPr marL="0" indent="0" algn="l">
              <a:lnSpc>
                <a:spcPts val="2025"/>
              </a:lnSpc>
              <a:buNone/>
            </a:pPr>
            <a:r>
              <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rPr>
              <a:t>Automatically record changes in attendance status.</a:t>
            </a:r>
            <a:endParaRPr lang="en-US" sz="1600" dirty="0">
              <a:solidFill>
                <a:srgbClr val="4A5568"/>
              </a:solidFill>
              <a:latin typeface="Arial" panose="020B0604020202020204" pitchFamily="34" charset="0"/>
              <a:ea typeface="Arial" panose="020B0604020202020204" pitchFamily="34" charset="-122"/>
              <a:cs typeface="Arial" panose="020B0604020202020204" pitchFamily="34" charset="-120"/>
            </a:endParaRPr>
          </a:p>
        </p:txBody>
      </p:sp>
      <p:sp>
        <p:nvSpPr>
          <p:cNvPr id="5" name="Shape 3"/>
          <p:cNvSpPr/>
          <p:nvPr/>
        </p:nvSpPr>
        <p:spPr>
          <a:xfrm>
            <a:off x="812800" y="952500"/>
            <a:ext cx="10598150" cy="1101090"/>
          </a:xfrm>
          <a:prstGeom prst="roundRect">
            <a:avLst>
              <a:gd name="adj" fmla="val 7052"/>
            </a:avLst>
          </a:prstGeom>
          <a:solidFill>
            <a:srgbClr val="FCFCFA"/>
          </a:solidFill>
          <a:ln w="6350">
            <a:solidFill>
              <a:srgbClr val="D5DCD8"/>
            </a:solidFill>
            <a:prstDash val="solid"/>
          </a:ln>
        </p:spPr>
      </p:sp>
      <p:sp>
        <p:nvSpPr>
          <p:cNvPr id="6" name="Text 4"/>
          <p:cNvSpPr/>
          <p:nvPr/>
        </p:nvSpPr>
        <p:spPr>
          <a:xfrm>
            <a:off x="962660" y="1058547"/>
            <a:ext cx="4018483" cy="238760"/>
          </a:xfrm>
          <a:prstGeom prst="rect">
            <a:avLst/>
          </a:prstGeom>
          <a:noFill/>
        </p:spPr>
        <p:txBody>
          <a:bodyPr wrap="square" lIns="0" tIns="0" rIns="0" bIns="0" rtlCol="0" anchor="t">
            <a:normAutofit/>
          </a:bodyPr>
          <a:lstStyle/>
          <a:p>
            <a:pPr marL="0" indent="0" algn="l">
              <a:lnSpc>
                <a:spcPts val="1680"/>
              </a:lnSpc>
              <a:buNone/>
            </a:pPr>
            <a:r>
              <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rPr>
              <a:t>DEFINITION</a:t>
            </a:r>
            <a:endParaRPr lang="en-US" sz="1600" b="1" kern="0" spc="100" dirty="0">
              <a:solidFill>
                <a:srgbClr val="0B6A63"/>
              </a:solidFill>
              <a:latin typeface="Arial" panose="020B0604020202020204" pitchFamily="34" charset="0"/>
              <a:ea typeface="Arial" panose="020B0604020202020204" pitchFamily="34" charset="-122"/>
              <a:cs typeface="Arial" panose="020B0604020202020204" pitchFamily="34" charset="-120"/>
            </a:endParaRPr>
          </a:p>
        </p:txBody>
      </p:sp>
      <p:sp>
        <p:nvSpPr>
          <p:cNvPr id="7" name="Text 5"/>
          <p:cNvSpPr/>
          <p:nvPr/>
        </p:nvSpPr>
        <p:spPr>
          <a:xfrm>
            <a:off x="962660" y="1388745"/>
            <a:ext cx="10094595" cy="541655"/>
          </a:xfrm>
          <a:prstGeom prst="rect">
            <a:avLst/>
          </a:prstGeom>
          <a:noFill/>
        </p:spPr>
        <p:txBody>
          <a:bodyPr wrap="square" lIns="0" tIns="0" rIns="0" bIns="0" rtlCol="0" anchor="t">
            <a:normAutofit/>
          </a:bodyPr>
          <a:lstStyle/>
          <a:p>
            <a:pPr marL="0" indent="0" algn="l">
              <a:lnSpc>
                <a:spcPts val="1960"/>
              </a:lnSpc>
              <a:buNone/>
            </a:pP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A trigger is a database object that automatically executes when a specified event, such as an INSERT, UPDATE, or DELETE, occurs.</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8" name="Shape 6"/>
          <p:cNvSpPr/>
          <p:nvPr/>
        </p:nvSpPr>
        <p:spPr>
          <a:xfrm>
            <a:off x="812800" y="5825490"/>
            <a:ext cx="6242685" cy="869950"/>
          </a:xfrm>
          <a:prstGeom prst="roundRect">
            <a:avLst>
              <a:gd name="adj" fmla="val 9281"/>
            </a:avLst>
          </a:prstGeom>
          <a:solidFill>
            <a:srgbClr val="FCFCFA"/>
          </a:solidFill>
          <a:ln w="6350">
            <a:solidFill>
              <a:srgbClr val="D5DCD8"/>
            </a:solidFill>
            <a:prstDash val="solid"/>
          </a:ln>
        </p:spPr>
        <p:txBody>
          <a:bodyPr/>
          <a:p>
            <a:pPr marL="0" indent="0" algn="l">
              <a:lnSpc>
                <a:spcPts val="1680"/>
              </a:lnSpc>
              <a:buNone/>
            </a:pPr>
            <a:r>
              <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sym typeface="+mn-ea"/>
              </a:rPr>
              <a:t>NOTE</a:t>
            </a:r>
            <a:endParaRPr lang="en-US" sz="1600" b="1" kern="0" spc="100" dirty="0">
              <a:solidFill>
                <a:srgbClr val="4A5568"/>
              </a:solidFill>
              <a:latin typeface="Arial" panose="020B0604020202020204" pitchFamily="34" charset="0"/>
              <a:ea typeface="Arial" panose="020B0604020202020204" pitchFamily="34" charset="-122"/>
              <a:cs typeface="Arial" panose="020B0604020202020204" pitchFamily="34" charset="-120"/>
              <a:sym typeface="+mn-ea"/>
            </a:endParaRPr>
          </a:p>
          <a:p>
            <a:pPr marL="0" indent="0" algn="l">
              <a:lnSpc>
                <a:spcPts val="1680"/>
              </a:lnSpc>
              <a:buNone/>
            </a:pPr>
            <a:endParaRPr lang="en-GB" altLang="en-US"/>
          </a:p>
          <a:p>
            <a:pPr marL="0" indent="0" algn="l">
              <a:lnSpc>
                <a:spcPts val="1680"/>
              </a:lnSpc>
              <a:buNone/>
            </a:pPr>
            <a:r>
              <a:rPr lang="en-US" altLang="en-GB" sz="1600"/>
              <a:t>Create the Attendance_History table before creating this trigger.</a:t>
            </a:r>
            <a:endParaRPr lang="en-US" altLang="en-GB" sz="1600"/>
          </a:p>
          <a:p>
            <a:pPr marL="0" indent="0" algn="l">
              <a:lnSpc>
                <a:spcPts val="1680"/>
              </a:lnSpc>
              <a:buNone/>
            </a:pPr>
            <a:endParaRPr lang="en-US" altLang="en-GB" sz="1600"/>
          </a:p>
        </p:txBody>
      </p:sp>
      <p:sp>
        <p:nvSpPr>
          <p:cNvPr id="11" name="Text 9"/>
          <p:cNvSpPr/>
          <p:nvPr/>
        </p:nvSpPr>
        <p:spPr>
          <a:xfrm>
            <a:off x="812800" y="2789555"/>
            <a:ext cx="10022205" cy="2882265"/>
          </a:xfrm>
          <a:prstGeom prst="roundRect">
            <a:avLst>
              <a:gd name="adj" fmla="val 3129"/>
            </a:avLst>
          </a:prstGeom>
          <a:solidFill>
            <a:schemeClr val="accent4"/>
          </a:solidFill>
        </p:spPr>
        <p:txBody>
          <a:bodyPr wrap="square" lIns="191403" tIns="140603" rIns="29859" bIns="115203" rtlCol="0" anchor="t">
            <a:normAutofit/>
          </a:bodyPr>
          <a:lstStyle/>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DELIMITER</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400" dirty="0"/>
          </a:p>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CREATE TRIGGER</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TrackAttendanceChanges</a:t>
            </a:r>
            <a:endParaRPr lang="en-US" sz="1400" dirty="0"/>
          </a:p>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AFTER UPDATE ON</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a:t>
            </a:r>
            <a:endParaRPr lang="en-US" sz="1400" dirty="0"/>
          </a:p>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FOR EACH ROW</a:t>
            </a:r>
            <a:endParaRPr lang="en-US" sz="1400" dirty="0"/>
          </a:p>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BEGIN</a:t>
            </a:r>
            <a:endParaRPr lang="en-US" sz="1400" dirty="0"/>
          </a:p>
          <a:p>
            <a:pPr marL="0" indent="0" algn="l">
              <a:lnSpc>
                <a:spcPts val="1620"/>
              </a:lnSpc>
              <a:buNone/>
            </a:pP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IF NOT</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(OLD.attendance_status &lt;=&gt; NEW.attendance_status) </a:t>
            </a: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THEN</a:t>
            </a:r>
            <a:endParaRPr lang="en-US" sz="1400" dirty="0"/>
          </a:p>
          <a:p>
            <a:pPr marL="0" indent="0" algn="l">
              <a:lnSpc>
                <a:spcPts val="1620"/>
              </a:lnSpc>
              <a:buNone/>
            </a:pP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INSERT INTO</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Attendance_History(registration_id, old_status,new_status, change_date)</a:t>
            </a:r>
            <a:endParaRPr lang="en-US" sz="1400" dirty="0"/>
          </a:p>
          <a:p>
            <a:pPr marL="0" indent="0" algn="l">
              <a:lnSpc>
                <a:spcPts val="1620"/>
              </a:lnSpc>
              <a:buNone/>
            </a:pP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VALUES</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(OLD.registration_id,OLD.attendance_status,NEW.attendance_status, </a:t>
            </a:r>
            <a:r>
              <a:rPr lang="en-US" sz="1400" dirty="0">
                <a:solidFill>
                  <a:srgbClr val="F2B84B"/>
                </a:solidFill>
                <a:latin typeface="Courier New" panose="02070309020205020404" pitchFamily="49" charset="0"/>
                <a:ea typeface="Courier New" panose="02070309020205020404" pitchFamily="49" charset="-122"/>
                <a:cs typeface="Courier New" panose="02070309020205020404" pitchFamily="49" charset="-120"/>
              </a:rPr>
              <a:t>CURRENT_TIMESTAMP</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400" dirty="0"/>
          </a:p>
          <a:p>
            <a:pPr marL="0" indent="0" algn="l">
              <a:lnSpc>
                <a:spcPts val="1620"/>
              </a:lnSpc>
              <a:buNone/>
            </a:pP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END IF</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a:t>
            </a:r>
            <a:endParaRPr lang="en-US" sz="1400" dirty="0"/>
          </a:p>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END</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400" dirty="0"/>
          </a:p>
          <a:p>
            <a:pPr marL="0" indent="0" algn="l">
              <a:lnSpc>
                <a:spcPts val="1620"/>
              </a:lnSpc>
              <a:buNone/>
            </a:pPr>
            <a:r>
              <a:rPr lang="en-US" sz="14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DELIMITER</a:t>
            </a:r>
            <a:r>
              <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4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p:txBody>
      </p:sp>
      <p:sp>
        <p:nvSpPr>
          <p:cNvPr id="14" name="Text 12"/>
          <p:cNvSpPr/>
          <p:nvPr/>
        </p:nvSpPr>
        <p:spPr>
          <a:xfrm>
            <a:off x="10058400" y="6238242"/>
            <a:ext cx="13208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4A5568"/>
                </a:solidFill>
                <a:latin typeface="Arial" panose="020B0604020202020204" pitchFamily="34" charset="0"/>
                <a:ea typeface="Arial" panose="020B0604020202020204" pitchFamily="34" charset="-122"/>
                <a:cs typeface="Arial" panose="020B0604020202020204" pitchFamily="34" charset="-120"/>
              </a:rPr>
              <a:t>18 / 19</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812800" y="1924050"/>
          <a:ext cx="10255250" cy="1746250"/>
        </p:xfrm>
        <a:graphic>
          <a:graphicData uri="http://schemas.openxmlformats.org/drawingml/2006/table">
            <a:tbl>
              <a:tblPr/>
              <a:tblGrid>
                <a:gridCol w="2051050"/>
                <a:gridCol w="2051050"/>
                <a:gridCol w="2051050"/>
                <a:gridCol w="2051050"/>
                <a:gridCol w="2051050"/>
              </a:tblGrid>
              <a:tr h="873125">
                <a:tc>
                  <a:txBody>
                    <a:bodyPr/>
                    <a:p>
                      <a:pPr algn="l"/>
                      <a:r>
                        <a:rPr lang="en-US" altLang="zh-CN" sz="1600"/>
                        <a:t>history_id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c>
                  <a:txBody>
                    <a:bodyPr/>
                    <a:p>
                      <a:pPr algn="l"/>
                      <a:r>
                        <a:rPr lang="en-US" altLang="zh-CN" sz="1600"/>
                        <a:t>registration_id</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c>
                  <a:txBody>
                    <a:bodyPr/>
                    <a:p>
                      <a:pPr algn="l"/>
                      <a:r>
                        <a:rPr lang="en-US" altLang="zh-CN" sz="1600"/>
                        <a:t>old_status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c>
                  <a:txBody>
                    <a:bodyPr/>
                    <a:p>
                      <a:pPr algn="l"/>
                      <a:r>
                        <a:rPr lang="en-US" altLang="zh-CN" sz="1600"/>
                        <a:t>new_status</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c>
                  <a:txBody>
                    <a:bodyPr/>
                    <a:p>
                      <a:pPr algn="l"/>
                      <a:r>
                        <a:rPr lang="en-US" altLang="zh-CN" sz="1600"/>
                        <a:t>change_date</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solidFill>
                      <a:srgbClr val="CFE0DA"/>
                    </a:solidFill>
                  </a:tcPr>
                </a:tc>
              </a:tr>
              <a:tr h="873125">
                <a:tc>
                  <a:txBody>
                    <a:bodyPr/>
                    <a:p>
                      <a:pPr algn="l"/>
                      <a:r>
                        <a:rPr lang="en-US" altLang="zh-CN" sz="1600"/>
                        <a:t>1</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305</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Absent</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Present</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c>
                  <a:txBody>
                    <a:bodyPr/>
                    <a:p>
                      <a:pPr algn="l"/>
                      <a:r>
                        <a:rPr lang="en-US" altLang="zh-CN" sz="1600"/>
                        <a:t>2026-10-22</a:t>
                      </a:r>
                      <a:endParaRPr lang="en-US" altLang="zh-CN" sz="1600"/>
                    </a:p>
                  </a:txBody>
                  <a:tcPr marL="0" marR="0" marT="0" marB="0" anchor="ctr" anchorCtr="0">
                    <a:lnL w="12700">
                      <a:solidFill>
                        <a:srgbClr val="CFE0DA"/>
                      </a:solidFill>
                      <a:prstDash val="solid"/>
                    </a:lnL>
                    <a:lnR w="12700">
                      <a:solidFill>
                        <a:srgbClr val="CFE0DA"/>
                      </a:solidFill>
                      <a:prstDash val="solid"/>
                    </a:lnR>
                    <a:lnT w="12700">
                      <a:solidFill>
                        <a:srgbClr val="CFE0DA"/>
                      </a:solidFill>
                      <a:prstDash val="solid"/>
                    </a:lnT>
                    <a:lnB w="12700">
                      <a:solidFill>
                        <a:srgbClr val="CFE0DA"/>
                      </a:solidFill>
                      <a:prstDash val="solid"/>
                    </a:lnB>
                    <a:lnTlToBr>
                      <a:noFill/>
                    </a:lnTlToBr>
                    <a:lnBlToTr>
                      <a:noFill/>
                    </a:lnBlToTr>
                    <a:noFill/>
                  </a:tcPr>
                </a:tc>
              </a:tr>
            </a:tbl>
          </a:graphicData>
        </a:graphic>
      </p:graphicFrame>
      <p:sp>
        <p:nvSpPr>
          <p:cNvPr id="12" name="Text 10"/>
          <p:cNvSpPr/>
          <p:nvPr/>
        </p:nvSpPr>
        <p:spPr>
          <a:xfrm>
            <a:off x="812800" y="4174490"/>
            <a:ext cx="11061700" cy="998220"/>
          </a:xfrm>
          <a:prstGeom prst="roundRect">
            <a:avLst>
              <a:gd name="adj" fmla="val 10178"/>
            </a:avLst>
          </a:prstGeom>
          <a:solidFill>
            <a:srgbClr val="E1EAE6"/>
          </a:solidFill>
        </p:spPr>
        <p:txBody>
          <a:bodyPr wrap="square" lIns="173442" tIns="122642" rIns="10374" bIns="97242" rtlCol="0" anchor="t">
            <a:normAutofit/>
          </a:bodyPr>
          <a:lstStyle/>
          <a:p>
            <a:pPr marL="0" indent="0" algn="l">
              <a:lnSpc>
                <a:spcPts val="1820"/>
              </a:lnSpc>
              <a:buNone/>
            </a:pPr>
            <a:r>
              <a:rPr lang="en-US" sz="1600" b="1" dirty="0">
                <a:solidFill>
                  <a:srgbClr val="0B6A63"/>
                </a:solidFill>
                <a:latin typeface="Arial" panose="020B0604020202020204" pitchFamily="34" charset="0"/>
                <a:ea typeface="Arial" panose="020B0604020202020204" pitchFamily="34" charset="-122"/>
                <a:cs typeface="Arial" panose="020B0604020202020204" pitchFamily="34" charset="-120"/>
              </a:rPr>
              <a:t>Explanation.</a:t>
            </a:r>
            <a:r>
              <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rPr>
              <a:t> Whenever the attendance status changes, the registration ID, old status, new status, and change date are saved in Attendance_History.</a:t>
            </a:r>
            <a:endParaRPr lang="en-US" sz="1600" dirty="0">
              <a:solidFill>
                <a:srgbClr val="14213D"/>
              </a:solidFill>
              <a:latin typeface="Arial" panose="020B0604020202020204" pitchFamily="34" charset="0"/>
              <a:ea typeface="Arial" panose="020B0604020202020204" pitchFamily="34" charset="-122"/>
              <a:cs typeface="Arial" panose="020B0604020202020204" pitchFamily="34" charset="-120"/>
            </a:endParaRPr>
          </a:p>
        </p:txBody>
      </p:sp>
      <p:sp>
        <p:nvSpPr>
          <p:cNvPr id="5" name="Text Box 4"/>
          <p:cNvSpPr txBox="1"/>
          <p:nvPr/>
        </p:nvSpPr>
        <p:spPr>
          <a:xfrm>
            <a:off x="812800" y="1003300"/>
            <a:ext cx="4064000" cy="368300"/>
          </a:xfrm>
          <a:prstGeom prst="rect">
            <a:avLst/>
          </a:prstGeom>
          <a:noFill/>
        </p:spPr>
        <p:txBody>
          <a:bodyPr wrap="square" rtlCol="0">
            <a:spAutoFit/>
          </a:bodyPr>
          <a:p>
            <a:r>
              <a:rPr b="1">
                <a:solidFill>
                  <a:srgbClr val="0B6A63"/>
                </a:solidFill>
                <a:sym typeface="+mn-ea"/>
              </a:rPr>
              <a:t>OUTPUT</a:t>
            </a:r>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p:spPr>
        <p:txBody>
          <a:bodyPr wrap="square" lIns="0" tIns="0" rIns="0" bIns="0" rtlCol="0" anchor="t">
            <a:normAutofit/>
          </a:bodyPr>
          <a:lstStyle/>
          <a:p>
            <a:pPr marL="0" indent="0" algn="l">
              <a:lnSpc>
                <a:spcPts val="4400"/>
              </a:lnSpc>
              <a:buNone/>
            </a:pPr>
            <a:r>
              <a:rPr lang="en-US" sz="4000" b="1" i="0" dirty="0">
                <a:solidFill>
                  <a:srgbClr val="F3F5F2"/>
                </a:solidFill>
                <a:latin typeface="Arial" panose="020B0604020202020204" pitchFamily="34" charset="0"/>
                <a:ea typeface="Arial" panose="020B0604020202020204" pitchFamily="34" charset="-122"/>
                <a:cs typeface="Arial" panose="020B0604020202020204" pitchFamily="34" charset="-120"/>
              </a:rPr>
              <a:t>Conclusion</a:t>
            </a:r>
            <a:endParaRPr lang="en-US" sz="4000" dirty="0"/>
          </a:p>
        </p:txBody>
      </p:sp>
      <p:sp>
        <p:nvSpPr>
          <p:cNvPr id="3" name="Text 1"/>
          <p:cNvSpPr/>
          <p:nvPr/>
        </p:nvSpPr>
        <p:spPr>
          <a:xfrm>
            <a:off x="812800" y="1574800"/>
            <a:ext cx="9156700" cy="594360"/>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A9B8CC"/>
                </a:solidFill>
                <a:latin typeface="Arial" panose="020B0604020202020204" pitchFamily="34" charset="0"/>
                <a:ea typeface="Arial" panose="020B0604020202020204" pitchFamily="34" charset="-122"/>
                <a:cs typeface="Arial" panose="020B0604020202020204" pitchFamily="34" charset="-120"/>
              </a:rPr>
              <a:t>The Event Management System shows how SQL can manage technical events and participant information efficiently.</a:t>
            </a:r>
            <a:endParaRPr lang="en-US" sz="1600" dirty="0"/>
          </a:p>
        </p:txBody>
      </p:sp>
      <p:sp>
        <p:nvSpPr>
          <p:cNvPr id="4" name="Shape 2"/>
          <p:cNvSpPr/>
          <p:nvPr/>
        </p:nvSpPr>
        <p:spPr>
          <a:xfrm>
            <a:off x="812800" y="2346958"/>
            <a:ext cx="3420507" cy="866140"/>
          </a:xfrm>
          <a:prstGeom prst="roundRect">
            <a:avLst>
              <a:gd name="adj" fmla="val 11730"/>
            </a:avLst>
          </a:prstGeom>
          <a:solidFill>
            <a:srgbClr val="172A44"/>
          </a:solidFill>
        </p:spPr>
      </p:sp>
      <p:sp>
        <p:nvSpPr>
          <p:cNvPr id="5" name="Text 3"/>
          <p:cNvSpPr/>
          <p:nvPr/>
        </p:nvSpPr>
        <p:spPr>
          <a:xfrm>
            <a:off x="1016000" y="2524758"/>
            <a:ext cx="310453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3CCFC1"/>
                </a:solidFill>
                <a:latin typeface="Arial" panose="020B0604020202020204" pitchFamily="34" charset="0"/>
                <a:ea typeface="Arial" panose="020B0604020202020204" pitchFamily="34" charset="-122"/>
                <a:cs typeface="Arial" panose="020B0604020202020204" pitchFamily="34" charset="-120"/>
              </a:rPr>
              <a:t>Basic commands</a:t>
            </a:r>
            <a:endParaRPr lang="en-US" sz="1500" dirty="0"/>
          </a:p>
        </p:txBody>
      </p:sp>
      <p:sp>
        <p:nvSpPr>
          <p:cNvPr id="6" name="Text 4"/>
          <p:cNvSpPr/>
          <p:nvPr/>
        </p:nvSpPr>
        <p:spPr>
          <a:xfrm>
            <a:off x="1016000" y="2804158"/>
            <a:ext cx="310453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3F5F2"/>
                </a:solidFill>
                <a:latin typeface="Arial" panose="020B0604020202020204" pitchFamily="34" charset="0"/>
                <a:ea typeface="Arial" panose="020B0604020202020204" pitchFamily="34" charset="-122"/>
                <a:cs typeface="Arial" panose="020B0604020202020204" pitchFamily="34" charset="-120"/>
              </a:rPr>
              <a:t>Retrieve and modify data.</a:t>
            </a:r>
            <a:endParaRPr lang="en-US" sz="1300" dirty="0"/>
          </a:p>
        </p:txBody>
      </p:sp>
      <p:sp>
        <p:nvSpPr>
          <p:cNvPr id="7" name="Shape 5"/>
          <p:cNvSpPr/>
          <p:nvPr/>
        </p:nvSpPr>
        <p:spPr>
          <a:xfrm>
            <a:off x="4385707" y="2346958"/>
            <a:ext cx="3420507" cy="866140"/>
          </a:xfrm>
          <a:prstGeom prst="roundRect">
            <a:avLst>
              <a:gd name="adj" fmla="val 11730"/>
            </a:avLst>
          </a:prstGeom>
          <a:solidFill>
            <a:srgbClr val="172A44"/>
          </a:solidFill>
        </p:spPr>
      </p:sp>
      <p:sp>
        <p:nvSpPr>
          <p:cNvPr id="8" name="Text 6"/>
          <p:cNvSpPr/>
          <p:nvPr/>
        </p:nvSpPr>
        <p:spPr>
          <a:xfrm>
            <a:off x="4588907" y="2524758"/>
            <a:ext cx="310453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3CCFC1"/>
                </a:solidFill>
                <a:latin typeface="Arial" panose="020B0604020202020204" pitchFamily="34" charset="0"/>
                <a:ea typeface="Arial" panose="020B0604020202020204" pitchFamily="34" charset="-122"/>
                <a:cs typeface="Arial" panose="020B0604020202020204" pitchFamily="34" charset="-120"/>
              </a:rPr>
              <a:t>String and date functions</a:t>
            </a:r>
            <a:endParaRPr lang="en-US" sz="1500" dirty="0"/>
          </a:p>
        </p:txBody>
      </p:sp>
      <p:sp>
        <p:nvSpPr>
          <p:cNvPr id="9" name="Text 7"/>
          <p:cNvSpPr/>
          <p:nvPr/>
        </p:nvSpPr>
        <p:spPr>
          <a:xfrm>
            <a:off x="4588907" y="2804158"/>
            <a:ext cx="310453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3F5F2"/>
                </a:solidFill>
                <a:latin typeface="Arial" panose="020B0604020202020204" pitchFamily="34" charset="0"/>
                <a:ea typeface="Arial" panose="020B0604020202020204" pitchFamily="34" charset="-122"/>
                <a:cs typeface="Arial" panose="020B0604020202020204" pitchFamily="34" charset="-120"/>
              </a:rPr>
              <a:t>Process text and dates.</a:t>
            </a:r>
            <a:endParaRPr lang="en-US" sz="1300" dirty="0"/>
          </a:p>
        </p:txBody>
      </p:sp>
      <p:sp>
        <p:nvSpPr>
          <p:cNvPr id="10" name="Shape 8"/>
          <p:cNvSpPr/>
          <p:nvPr/>
        </p:nvSpPr>
        <p:spPr>
          <a:xfrm>
            <a:off x="7958614" y="2346958"/>
            <a:ext cx="3420507" cy="866140"/>
          </a:xfrm>
          <a:prstGeom prst="roundRect">
            <a:avLst>
              <a:gd name="adj" fmla="val 11730"/>
            </a:avLst>
          </a:prstGeom>
          <a:solidFill>
            <a:srgbClr val="172A44"/>
          </a:solidFill>
        </p:spPr>
      </p:sp>
      <p:sp>
        <p:nvSpPr>
          <p:cNvPr id="11" name="Text 9"/>
          <p:cNvSpPr/>
          <p:nvPr/>
        </p:nvSpPr>
        <p:spPr>
          <a:xfrm>
            <a:off x="8161814" y="2524758"/>
            <a:ext cx="310453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3CCFC1"/>
                </a:solidFill>
                <a:latin typeface="Arial" panose="020B0604020202020204" pitchFamily="34" charset="0"/>
                <a:ea typeface="Arial" panose="020B0604020202020204" pitchFamily="34" charset="-122"/>
                <a:cs typeface="Arial" panose="020B0604020202020204" pitchFamily="34" charset="-120"/>
              </a:rPr>
              <a:t>Aggregates and joins</a:t>
            </a:r>
            <a:endParaRPr lang="en-US" sz="1500" dirty="0"/>
          </a:p>
        </p:txBody>
      </p:sp>
      <p:sp>
        <p:nvSpPr>
          <p:cNvPr id="12" name="Text 10"/>
          <p:cNvSpPr/>
          <p:nvPr/>
        </p:nvSpPr>
        <p:spPr>
          <a:xfrm>
            <a:off x="8161814" y="2804158"/>
            <a:ext cx="310453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3F5F2"/>
                </a:solidFill>
                <a:latin typeface="Arial" panose="020B0604020202020204" pitchFamily="34" charset="0"/>
                <a:ea typeface="Arial" panose="020B0604020202020204" pitchFamily="34" charset="-122"/>
                <a:cs typeface="Arial" panose="020B0604020202020204" pitchFamily="34" charset="-120"/>
              </a:rPr>
              <a:t>Generate useful reports.</a:t>
            </a:r>
            <a:endParaRPr lang="en-US" sz="1300" dirty="0"/>
          </a:p>
        </p:txBody>
      </p:sp>
      <p:sp>
        <p:nvSpPr>
          <p:cNvPr id="13" name="Shape 11"/>
          <p:cNvSpPr/>
          <p:nvPr/>
        </p:nvSpPr>
        <p:spPr>
          <a:xfrm>
            <a:off x="812800" y="3365500"/>
            <a:ext cx="3420507" cy="866140"/>
          </a:xfrm>
          <a:prstGeom prst="roundRect">
            <a:avLst>
              <a:gd name="adj" fmla="val 11730"/>
            </a:avLst>
          </a:prstGeom>
          <a:solidFill>
            <a:srgbClr val="172A44"/>
          </a:solidFill>
        </p:spPr>
      </p:sp>
      <p:sp>
        <p:nvSpPr>
          <p:cNvPr id="14" name="Text 12"/>
          <p:cNvSpPr/>
          <p:nvPr/>
        </p:nvSpPr>
        <p:spPr>
          <a:xfrm>
            <a:off x="1016000" y="3543300"/>
            <a:ext cx="310453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3CCFC1"/>
                </a:solidFill>
                <a:latin typeface="Arial" panose="020B0604020202020204" pitchFamily="34" charset="0"/>
                <a:ea typeface="Arial" panose="020B0604020202020204" pitchFamily="34" charset="-122"/>
                <a:cs typeface="Arial" panose="020B0604020202020204" pitchFamily="34" charset="-120"/>
              </a:rPr>
              <a:t>Subqueries and views</a:t>
            </a:r>
            <a:endParaRPr lang="en-US" sz="1500" dirty="0"/>
          </a:p>
        </p:txBody>
      </p:sp>
      <p:sp>
        <p:nvSpPr>
          <p:cNvPr id="15" name="Text 13"/>
          <p:cNvSpPr/>
          <p:nvPr/>
        </p:nvSpPr>
        <p:spPr>
          <a:xfrm>
            <a:off x="1016000" y="3822700"/>
            <a:ext cx="310453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3F5F2"/>
                </a:solidFill>
                <a:latin typeface="Arial" panose="020B0604020202020204" pitchFamily="34" charset="0"/>
                <a:ea typeface="Arial" panose="020B0604020202020204" pitchFamily="34" charset="-122"/>
                <a:cs typeface="Arial" panose="020B0604020202020204" pitchFamily="34" charset="-120"/>
              </a:rPr>
              <a:t>Simplify data retrieval.</a:t>
            </a:r>
            <a:endParaRPr lang="en-US" sz="1300" dirty="0"/>
          </a:p>
        </p:txBody>
      </p:sp>
      <p:sp>
        <p:nvSpPr>
          <p:cNvPr id="16" name="Shape 14"/>
          <p:cNvSpPr/>
          <p:nvPr/>
        </p:nvSpPr>
        <p:spPr>
          <a:xfrm>
            <a:off x="4385707" y="3365500"/>
            <a:ext cx="3420507" cy="866140"/>
          </a:xfrm>
          <a:prstGeom prst="roundRect">
            <a:avLst>
              <a:gd name="adj" fmla="val 11730"/>
            </a:avLst>
          </a:prstGeom>
          <a:solidFill>
            <a:srgbClr val="172A44"/>
          </a:solidFill>
        </p:spPr>
      </p:sp>
      <p:sp>
        <p:nvSpPr>
          <p:cNvPr id="17" name="Text 15"/>
          <p:cNvSpPr/>
          <p:nvPr/>
        </p:nvSpPr>
        <p:spPr>
          <a:xfrm>
            <a:off x="4588907" y="3543300"/>
            <a:ext cx="310453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3CCFC1"/>
                </a:solidFill>
                <a:latin typeface="Arial" panose="020B0604020202020204" pitchFamily="34" charset="0"/>
                <a:ea typeface="Arial" panose="020B0604020202020204" pitchFamily="34" charset="-122"/>
                <a:cs typeface="Arial" panose="020B0604020202020204" pitchFamily="34" charset="-120"/>
              </a:rPr>
              <a:t>Transactions</a:t>
            </a:r>
            <a:endParaRPr lang="en-US" sz="1500" dirty="0"/>
          </a:p>
        </p:txBody>
      </p:sp>
      <p:sp>
        <p:nvSpPr>
          <p:cNvPr id="18" name="Text 16"/>
          <p:cNvSpPr/>
          <p:nvPr/>
        </p:nvSpPr>
        <p:spPr>
          <a:xfrm>
            <a:off x="4588907" y="3822700"/>
            <a:ext cx="310453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3F5F2"/>
                </a:solidFill>
                <a:latin typeface="Arial" panose="020B0604020202020204" pitchFamily="34" charset="0"/>
                <a:ea typeface="Arial" panose="020B0604020202020204" pitchFamily="34" charset="-122"/>
                <a:cs typeface="Arial" panose="020B0604020202020204" pitchFamily="34" charset="-120"/>
              </a:rPr>
              <a:t>Maintain controlled database updates.</a:t>
            </a:r>
            <a:endParaRPr lang="en-US" sz="1300" dirty="0"/>
          </a:p>
        </p:txBody>
      </p:sp>
      <p:sp>
        <p:nvSpPr>
          <p:cNvPr id="19" name="Shape 17"/>
          <p:cNvSpPr/>
          <p:nvPr/>
        </p:nvSpPr>
        <p:spPr>
          <a:xfrm>
            <a:off x="7958614" y="3365500"/>
            <a:ext cx="3420507" cy="866140"/>
          </a:xfrm>
          <a:prstGeom prst="roundRect">
            <a:avLst>
              <a:gd name="adj" fmla="val 11730"/>
            </a:avLst>
          </a:prstGeom>
          <a:solidFill>
            <a:srgbClr val="172A44"/>
          </a:solidFill>
        </p:spPr>
      </p:sp>
      <p:sp>
        <p:nvSpPr>
          <p:cNvPr id="20" name="Text 18"/>
          <p:cNvSpPr/>
          <p:nvPr/>
        </p:nvSpPr>
        <p:spPr>
          <a:xfrm>
            <a:off x="8161814" y="3543300"/>
            <a:ext cx="3104530" cy="254000"/>
          </a:xfrm>
          <a:prstGeom prst="rect">
            <a:avLst/>
          </a:prstGeom>
          <a:noFill/>
        </p:spPr>
        <p:txBody>
          <a:bodyPr wrap="square" lIns="0" tIns="0" rIns="0" bIns="0" rtlCol="0" anchor="t">
            <a:normAutofit/>
          </a:bodyPr>
          <a:lstStyle/>
          <a:p>
            <a:pPr marL="0" indent="0" algn="l">
              <a:lnSpc>
                <a:spcPts val="1800"/>
              </a:lnSpc>
              <a:buNone/>
            </a:pPr>
            <a:r>
              <a:rPr lang="en-US" sz="1500" b="1" dirty="0">
                <a:solidFill>
                  <a:srgbClr val="3CCFC1"/>
                </a:solidFill>
                <a:latin typeface="Arial" panose="020B0604020202020204" pitchFamily="34" charset="0"/>
                <a:ea typeface="Arial" panose="020B0604020202020204" pitchFamily="34" charset="-122"/>
                <a:cs typeface="Arial" panose="020B0604020202020204" pitchFamily="34" charset="-120"/>
              </a:rPr>
              <a:t>Procedures and triggers</a:t>
            </a:r>
            <a:endParaRPr lang="en-US" sz="1500" dirty="0"/>
          </a:p>
        </p:txBody>
      </p:sp>
      <p:sp>
        <p:nvSpPr>
          <p:cNvPr id="21" name="Text 19"/>
          <p:cNvSpPr/>
          <p:nvPr/>
        </p:nvSpPr>
        <p:spPr>
          <a:xfrm>
            <a:off x="8161814" y="3822700"/>
            <a:ext cx="310453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3F5F2"/>
                </a:solidFill>
                <a:latin typeface="Arial" panose="020B0604020202020204" pitchFamily="34" charset="0"/>
                <a:ea typeface="Arial" panose="020B0604020202020204" pitchFamily="34" charset="-122"/>
                <a:cs typeface="Arial" panose="020B0604020202020204" pitchFamily="34" charset="-120"/>
              </a:rPr>
              <a:t>Automate database operations.</a:t>
            </a:r>
            <a:endParaRPr lang="en-US" sz="1300" dirty="0"/>
          </a:p>
        </p:txBody>
      </p:sp>
      <p:sp>
        <p:nvSpPr>
          <p:cNvPr id="22" name="Text 20"/>
          <p:cNvSpPr/>
          <p:nvPr/>
        </p:nvSpPr>
        <p:spPr>
          <a:xfrm>
            <a:off x="812800" y="4434842"/>
            <a:ext cx="10566400" cy="604520"/>
          </a:xfrm>
          <a:prstGeom prst="roundRect">
            <a:avLst>
              <a:gd name="adj" fmla="val 16807"/>
            </a:avLst>
          </a:prstGeom>
          <a:solidFill>
            <a:srgbClr val="3CCFC1"/>
          </a:solidFill>
        </p:spPr>
        <p:txBody>
          <a:bodyPr wrap="square" lIns="198842" tIns="148042" rIns="0" bIns="122642" rtlCol="0" anchor="t">
            <a:normAutofit/>
          </a:bodyPr>
          <a:lstStyle/>
          <a:p>
            <a:pPr marL="0" indent="0" algn="l">
              <a:lnSpc>
                <a:spcPts val="1960"/>
              </a:lnSpc>
              <a:buNone/>
            </a:pPr>
            <a:r>
              <a:rPr lang="en-US" sz="1400" b="1" dirty="0">
                <a:solidFill>
                  <a:srgbClr val="0F1B2D"/>
                </a:solidFill>
                <a:latin typeface="Arial" panose="020B0604020202020204" pitchFamily="34" charset="0"/>
                <a:ea typeface="Arial" panose="020B0604020202020204" pitchFamily="34" charset="-122"/>
                <a:cs typeface="Arial" panose="020B0604020202020204" pitchFamily="34" charset="-120"/>
              </a:rPr>
              <a:t>Final outcome.</a:t>
            </a:r>
            <a:r>
              <a:rPr lang="en-US" sz="1400" dirty="0">
                <a:solidFill>
                  <a:srgbClr val="0F1B2D"/>
                </a:solidFill>
                <a:latin typeface="Arial" panose="020B0604020202020204" pitchFamily="34" charset="0"/>
                <a:ea typeface="Arial" panose="020B0604020202020204" pitchFamily="34" charset="-122"/>
                <a:cs typeface="Arial" panose="020B0604020202020204" pitchFamily="34" charset="-120"/>
              </a:rPr>
              <a:t> The system helps generate participant lists, registration reports, attendance summaries, and certificate details.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 9"/>
          <p:cNvSpPr/>
          <p:nvPr/>
        </p:nvSpPr>
        <p:spPr>
          <a:xfrm>
            <a:off x="-635" y="635"/>
            <a:ext cx="12192635" cy="6858000"/>
          </a:xfrm>
          <a:prstGeom prst="roundRect">
            <a:avLst>
              <a:gd name="adj" fmla="val 3129"/>
            </a:avLst>
          </a:prstGeom>
          <a:solidFill>
            <a:schemeClr val="accent4"/>
          </a:solidFill>
        </p:spPr>
        <p:txBody>
          <a:bodyPr wrap="square" lIns="191403" tIns="140603" rIns="29859" bIns="115203" rtlCol="0" anchor="t">
            <a:normAutofit/>
          </a:bodyPr>
          <a:lstStyle/>
          <a:p>
            <a:pPr marL="0" indent="0" algn="ctr">
              <a:lnSpc>
                <a:spcPts val="1620"/>
              </a:lnSpc>
              <a:buNone/>
            </a:pPr>
            <a:r>
              <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rPr>
              <a:t>   </a:t>
            </a: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sz="1200"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endParaRPr lang="en-US" dirty="0">
              <a:solidFill>
                <a:srgbClr val="E6EDF7"/>
              </a:solidFill>
              <a:latin typeface="Courier New" panose="02070309020205020404" pitchFamily="49" charset="0"/>
              <a:ea typeface="Courier New" panose="02070309020205020404" pitchFamily="49" charset="-122"/>
              <a:cs typeface="Courier New" panose="02070309020205020404" pitchFamily="49" charset="-120"/>
            </a:endParaRPr>
          </a:p>
          <a:p>
            <a:pPr marL="0" indent="0" algn="ctr">
              <a:lnSpc>
                <a:spcPts val="1620"/>
              </a:lnSpc>
              <a:buNone/>
            </a:pPr>
            <a:r>
              <a:rPr lang="en-US" sz="60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rPr>
              <a:t>Thank You</a:t>
            </a:r>
            <a:endParaRPr lang="en-US" sz="6000" dirty="0">
              <a:solidFill>
                <a:srgbClr val="7CC4FF"/>
              </a:solidFill>
              <a:latin typeface="Courier New" panose="02070309020205020404" pitchFamily="49" charset="0"/>
              <a:ea typeface="Courier New" panose="02070309020205020404" pitchFamily="49" charset="-122"/>
              <a:cs typeface="Courier New" panose="02070309020205020404" pitchFamily="49" charset="-120"/>
            </a:endParaRPr>
          </a:p>
        </p:txBody>
      </p:sp>
    </p:spTree>
  </p:cSld>
  <p:clrMapOvr>
    <a:masterClrMapping/>
  </p:clrMapOvr>
</p:sld>
</file>

<file path=ppt/tags/tag1.xml><?xml version="1.0" encoding="utf-8"?>
<p:tagLst xmlns:p="http://schemas.openxmlformats.org/presentationml/2006/main">
  <p:tag name="KSO_WM_DIAGRAM_VIRTUALLY_FRAME" val="{&quot;height&quot;:117.3,&quot;left&quot;:64,&quot;top&quot;:362.8,&quot;width&quot;:395.75}"/>
</p:tagLst>
</file>

<file path=ppt/tags/tag2.xml><?xml version="1.0" encoding="utf-8"?>
<p:tagLst xmlns:p="http://schemas.openxmlformats.org/presentationml/2006/main">
  <p:tag name="TABLE_ENDDRAG_ORIGIN_RECT" val="820*247"/>
  <p:tag name="TABLE_ENDDRAG_RECT" val="67*223*820*247"/>
</p:tagLst>
</file>

<file path=ppt/tags/tag3.xml><?xml version="1.0" encoding="utf-8"?>
<p:tagLst xmlns:p="http://schemas.openxmlformats.org/presentationml/2006/main">
  <p:tag name="TABLE_ENDDRAG_ORIGIN_RECT" val="410*166"/>
  <p:tag name="TABLE_ENDDRAG_RECT" val="495*243*410*166"/>
</p:tagLst>
</file>

<file path=ppt/tags/tag4.xml><?xml version="1.0" encoding="utf-8"?>
<p:tagLst xmlns:p="http://schemas.openxmlformats.org/presentationml/2006/main">
  <p:tag name="TABLE_ENDDRAG_ORIGIN_RECT" val="430*172"/>
  <p:tag name="TABLE_ENDDRAG_RECT" val="509*232*430*172"/>
</p:tagLst>
</file>

<file path=ppt/tags/tag5.xml><?xml version="1.0" encoding="utf-8"?>
<p:tagLst xmlns:p="http://schemas.openxmlformats.org/presentationml/2006/main">
  <p:tag name="TABLE_ENDDRAG_ORIGIN_RECT" val="446*216"/>
  <p:tag name="TABLE_ENDDRAG_RECT" val="497*178*446*216"/>
</p:tagLst>
</file>

<file path=ppt/tags/tag6.xml><?xml version="1.0" encoding="utf-8"?>
<p:tagLst xmlns:p="http://schemas.openxmlformats.org/presentationml/2006/main">
  <p:tag name="TABLE_ENDDRAG_ORIGIN_RECT" val="835*366"/>
  <p:tag name="TABLE_ENDDRAG_RECT" val="38*65*835*366"/>
</p:tagLst>
</file>

<file path=ppt/tags/tag7.xml><?xml version="1.0" encoding="utf-8"?>
<p:tagLst xmlns:p="http://schemas.openxmlformats.org/presentationml/2006/main">
  <p:tag name="TABLE_ENDDRAG_ORIGIN_RECT" val="798*106"/>
  <p:tag name="TABLE_ENDDRAG_RECT" val="57*113*798*106"/>
</p:tagLst>
</file>

<file path=ppt/tags/tag8.xml><?xml version="1.0" encoding="utf-8"?>
<p:tagLst xmlns:p="http://schemas.openxmlformats.org/presentationml/2006/main">
  <p:tag name="TABLE_ENDDRAG_ORIGIN_RECT" val="757*256"/>
  <p:tag name="TABLE_ENDDRAG_RECT" val="103*108*757*256"/>
</p:tagLst>
</file>

<file path=ppt/tags/tag9.xml><?xml version="1.0" encoding="utf-8"?>
<p:tagLst xmlns:p="http://schemas.openxmlformats.org/presentationml/2006/main">
  <p:tag name="TABLE_ENDDRAG_ORIGIN_RECT" val="807*137"/>
  <p:tag name="TABLE_ENDDRAG_RECT" val="67*256*807*137"/>
</p:tagLst>
</file>

<file path=ppt/theme/theme1.xml><?xml version="1.0" encoding="utf-8"?>
<a:theme xmlns:a="http://schemas.openxmlformats.org/drawingml/2006/main" name="Event Management System Using SQL">
  <a:themeElements>
    <a:clrScheme name="Event Management System Using SQL">
      <a:dk1>
        <a:srgbClr val="14213D"/>
      </a:dk1>
      <a:lt1>
        <a:srgbClr val="F6F7F4"/>
      </a:lt1>
      <a:dk2>
        <a:srgbClr val="4D576B"/>
      </a:dk2>
      <a:lt2>
        <a:srgbClr val="DFE2E2"/>
      </a:lt2>
      <a:accent1>
        <a:srgbClr val="0B6A63"/>
      </a:accent1>
      <a:accent2>
        <a:srgbClr val="3CCFC1"/>
      </a:accent2>
      <a:accent3>
        <a:srgbClr val="4A5568"/>
      </a:accent3>
      <a:accent4>
        <a:srgbClr val="0B1424"/>
      </a:accent4>
      <a:accent5>
        <a:srgbClr val="A9B8CC"/>
      </a:accent5>
      <a:accent6>
        <a:srgbClr val="9AA0A6"/>
      </a:accent6>
      <a:hlink>
        <a:srgbClr val="0563C1"/>
      </a:hlink>
      <a:folHlink>
        <a:srgbClr val="954F72"/>
      </a:folHlink>
    </a:clrScheme>
    <a:fontScheme name="Event Management System Using SQ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vent Management System Using SQL">
  <a:themeElements>
    <a:clrScheme name="Event Management System Using SQL">
      <a:dk1>
        <a:srgbClr val="14213D"/>
      </a:dk1>
      <a:lt1>
        <a:srgbClr val="F6F7F4"/>
      </a:lt1>
      <a:dk2>
        <a:srgbClr val="4D576B"/>
      </a:dk2>
      <a:lt2>
        <a:srgbClr val="DFE2E2"/>
      </a:lt2>
      <a:accent1>
        <a:srgbClr val="0B6A63"/>
      </a:accent1>
      <a:accent2>
        <a:srgbClr val="3CCFC1"/>
      </a:accent2>
      <a:accent3>
        <a:srgbClr val="4A5568"/>
      </a:accent3>
      <a:accent4>
        <a:srgbClr val="0B1424"/>
      </a:accent4>
      <a:accent5>
        <a:srgbClr val="A9B8CC"/>
      </a:accent5>
      <a:accent6>
        <a:srgbClr val="9AA0A6"/>
      </a:accent6>
      <a:hlink>
        <a:srgbClr val="0563C1"/>
      </a:hlink>
      <a:folHlink>
        <a:srgbClr val="954F72"/>
      </a:folHlink>
    </a:clrScheme>
    <a:fontScheme name="Event Management System Using SQ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15831</Words>
  <Application>WPS Presentation</Application>
  <PresentationFormat>On-screen Show (16:9)</PresentationFormat>
  <Paragraphs>1001</Paragraphs>
  <Slides>28</Slides>
  <Notes>19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28</vt:i4>
      </vt:variant>
    </vt:vector>
  </HeadingPairs>
  <TitlesOfParts>
    <vt:vector size="46" baseType="lpstr">
      <vt:lpstr>Arial</vt:lpstr>
      <vt:lpstr>SimSun</vt:lpstr>
      <vt:lpstr>Wingdings</vt:lpstr>
      <vt:lpstr>Arial</vt:lpstr>
      <vt:lpstr>Arial</vt:lpstr>
      <vt:lpstr>Courier New</vt:lpstr>
      <vt:lpstr>Courier New</vt:lpstr>
      <vt:lpstr>Courier New</vt:lpstr>
      <vt:lpstr>Microsoft YaHei</vt:lpstr>
      <vt:lpstr>Arial Unicode MS</vt:lpstr>
      <vt:lpstr>Calibri</vt:lpstr>
      <vt:lpstr>等线</vt:lpstr>
      <vt:lpstr>Algerian</vt:lpstr>
      <vt:lpstr>Times New Roman</vt:lpstr>
      <vt:lpstr>Cambria</vt:lpstr>
      <vt:lpstr>Cambria</vt:lpstr>
      <vt:lpstr>Cambria</vt:lpstr>
      <vt:lpstr>Event Management System Using SQL</vt:lpstr>
      <vt:lpstr>Event Management System Using SQL</vt:lpstr>
      <vt:lpstr>Why events need a database</vt:lpstr>
      <vt:lpstr>What the project sets out to do</vt:lpstr>
      <vt:lpstr>PowerPoint 演示文稿</vt:lpstr>
      <vt:lpstr>PowerPoint 演示文稿</vt:lpstr>
      <vt:lpstr>CREATE TABLE Statements</vt:lpstr>
      <vt:lpstr>CREATE TABLE Statements</vt:lpstr>
      <vt:lpstr>INSERT Statement: Events</vt:lpstr>
      <vt:lpstr>INSERT Statement: Participants</vt:lpstr>
      <vt:lpstr>INSERT Statement: Registrations</vt:lpstr>
      <vt:lpstr>INSERT Statement: Attendance</vt:lpstr>
      <vt:lpstr>INSERT Statement: Certificates</vt:lpstr>
      <vt:lpstr>Basic DQL Commands</vt:lpstr>
      <vt:lpstr>String Functions</vt:lpstr>
      <vt:lpstr>Date Functions</vt:lpstr>
      <vt:lpstr>Aggregate Functions</vt:lpstr>
      <vt:lpstr>Joins</vt:lpstr>
      <vt:lpstr>Subqueries</vt:lpstr>
      <vt:lpstr>Views</vt:lpstr>
      <vt:lpstr>PowerPoint 演示文稿</vt:lpstr>
      <vt:lpstr>Transactions</vt:lpstr>
      <vt:lpstr>PowerPoint 演示文稿</vt:lpstr>
      <vt:lpstr>Stored Procedures</vt:lpstr>
      <vt:lpstr>PowerPoint 演示文稿</vt:lpstr>
      <vt:lpstr>Triggers</vt:lpstr>
      <vt:lpstr>PowerPoint 演示文稿</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Management System Using SQL</dc:title>
  <dc:creator/>
  <cp:lastModifiedBy>NARMADA</cp:lastModifiedBy>
  <cp:revision>12</cp:revision>
  <dcterms:created xsi:type="dcterms:W3CDTF">2026-10-15T16:32:00Z</dcterms:created>
  <dcterms:modified xsi:type="dcterms:W3CDTF">2026-10-23T06:04:48Z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7569D5540806485D9DB1A51C117A8047_13</vt:lpwstr>
  </property>
  <property fmtid="{D5CDD505-2E9C-101B-9397-08002B2CF9AE}" pid="3" name="KSOProductBuildVer">
    <vt:lpwstr>2057-12.2.0.23206</vt:lpwstr>
  </property>
</Properties>
</file>